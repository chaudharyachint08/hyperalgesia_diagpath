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ECB5CA-52F6-4715-8BF7-E415C48E6382}" v="21" dt="2026-09-27T06:48:45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hint chaudhary" userId="a906389ec4008a6a" providerId="LiveId" clId="{2FE5CBE6-3671-4898-B5A9-EAC4E7A10E3D}"/>
    <pc:docChg chg="undo custSel addSld modSld">
      <pc:chgData name="achint chaudhary" userId="a906389ec4008a6a" providerId="LiveId" clId="{2FE5CBE6-3671-4898-B5A9-EAC4E7A10E3D}" dt="2026-09-27T06:49:16.033" v="532" actId="478"/>
      <pc:docMkLst>
        <pc:docMk/>
      </pc:docMkLst>
      <pc:sldChg chg="addSp delSp modSp mod">
        <pc:chgData name="achint chaudhary" userId="a906389ec4008a6a" providerId="LiveId" clId="{2FE5CBE6-3671-4898-B5A9-EAC4E7A10E3D}" dt="2026-09-27T03:22:01.084" v="498" actId="12"/>
        <pc:sldMkLst>
          <pc:docMk/>
          <pc:sldMk cId="0" sldId="256"/>
        </pc:sldMkLst>
        <pc:spChg chg="mod">
          <ac:chgData name="achint chaudhary" userId="a906389ec4008a6a" providerId="LiveId" clId="{2FE5CBE6-3671-4898-B5A9-EAC4E7A10E3D}" dt="2026-09-27T02:48:45.981" v="61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8:41.013" v="56" actId="255"/>
          <ac:spMkLst>
            <pc:docMk/>
            <pc:sldMk cId="0" sldId="256"/>
            <ac:spMk id="3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7:31.684" v="38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04:24.702" v="380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8:41.013" v="56" actId="255"/>
          <ac:spMkLst>
            <pc:docMk/>
            <pc:sldMk cId="0" sldId="256"/>
            <ac:spMk id="9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02:18.921" v="358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02:16.262" v="356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56:53.561" v="218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57:10.907" v="254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6:31.168" v="30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2:01.084" v="498" actId="12"/>
          <ac:spMkLst>
            <pc:docMk/>
            <pc:sldMk cId="0" sldId="256"/>
            <ac:spMk id="21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8:41.013" v="56" actId="255"/>
          <ac:spMkLst>
            <pc:docMk/>
            <pc:sldMk cId="0" sldId="256"/>
            <ac:spMk id="22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6:31.168" v="30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8:41.013" v="56" actId="255"/>
          <ac:spMkLst>
            <pc:docMk/>
            <pc:sldMk cId="0" sldId="256"/>
            <ac:spMk id="24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8:41.013" v="56" actId="255"/>
          <ac:spMkLst>
            <pc:docMk/>
            <pc:sldMk cId="0" sldId="256"/>
            <ac:spMk id="25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6:31.168" v="30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6:31.168" v="30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2:48:41.013" v="56" actId="255"/>
          <ac:spMkLst>
            <pc:docMk/>
            <pc:sldMk cId="0" sldId="256"/>
            <ac:spMk id="31" creationId="{00000000-0000-0000-0000-000000000000}"/>
          </ac:spMkLst>
        </pc:spChg>
        <pc:cxnChg chg="mod">
          <ac:chgData name="achint chaudhary" userId="a906389ec4008a6a" providerId="LiveId" clId="{2FE5CBE6-3671-4898-B5A9-EAC4E7A10E3D}" dt="2026-09-27T02:45:55.592" v="28" actId="14100"/>
          <ac:cxnSpMkLst>
            <pc:docMk/>
            <pc:sldMk cId="0" sldId="256"/>
            <ac:cxnSpMk id="8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2:45:39.931" v="25" actId="1076"/>
          <ac:cxnSpMkLst>
            <pc:docMk/>
            <pc:sldMk cId="0" sldId="256"/>
            <ac:cxnSpMk id="10" creationId="{00000000-0000-0000-0000-000000000000}"/>
          </ac:cxnSpMkLst>
        </pc:cxnChg>
        <pc:cxnChg chg="del mod">
          <ac:chgData name="achint chaudhary" userId="a906389ec4008a6a" providerId="LiveId" clId="{2FE5CBE6-3671-4898-B5A9-EAC4E7A10E3D}" dt="2026-09-27T02:45:11.856" v="19" actId="478"/>
          <ac:cxnSpMkLst>
            <pc:docMk/>
            <pc:sldMk cId="0" sldId="256"/>
            <ac:cxnSpMk id="11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2:44:27.717" v="12" actId="14100"/>
          <ac:cxnSpMkLst>
            <pc:docMk/>
            <pc:sldMk cId="0" sldId="256"/>
            <ac:cxnSpMk id="14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2:46:04.557" v="29" actId="14100"/>
          <ac:cxnSpMkLst>
            <pc:docMk/>
            <pc:sldMk cId="0" sldId="256"/>
            <ac:cxnSpMk id="15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2:44:09.363" v="9" actId="1076"/>
          <ac:cxnSpMkLst>
            <pc:docMk/>
            <pc:sldMk cId="0" sldId="256"/>
            <ac:cxnSpMk id="17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2:47:49.637" v="41" actId="14100"/>
          <ac:cxnSpMkLst>
            <pc:docMk/>
            <pc:sldMk cId="0" sldId="256"/>
            <ac:cxnSpMk id="28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2:47:57.857" v="43" actId="14100"/>
          <ac:cxnSpMkLst>
            <pc:docMk/>
            <pc:sldMk cId="0" sldId="256"/>
            <ac:cxnSpMk id="29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2:48:06.105" v="45" actId="14100"/>
          <ac:cxnSpMkLst>
            <pc:docMk/>
            <pc:sldMk cId="0" sldId="256"/>
            <ac:cxnSpMk id="30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2:47:00.036" v="33" actId="14100"/>
          <ac:cxnSpMkLst>
            <pc:docMk/>
            <pc:sldMk cId="0" sldId="256"/>
            <ac:cxnSpMk id="33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2:47:10.699" v="35" actId="14100"/>
          <ac:cxnSpMkLst>
            <pc:docMk/>
            <pc:sldMk cId="0" sldId="256"/>
            <ac:cxnSpMk id="35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2:47:21.338" v="37" actId="14100"/>
          <ac:cxnSpMkLst>
            <pc:docMk/>
            <pc:sldMk cId="0" sldId="256"/>
            <ac:cxnSpMk id="37" creationId="{00000000-0000-0000-0000-000000000000}"/>
          </ac:cxnSpMkLst>
        </pc:cxnChg>
        <pc:cxnChg chg="add mod">
          <ac:chgData name="achint chaudhary" userId="a906389ec4008a6a" providerId="LiveId" clId="{2FE5CBE6-3671-4898-B5A9-EAC4E7A10E3D}" dt="2026-09-27T02:45:39.931" v="25" actId="1076"/>
          <ac:cxnSpMkLst>
            <pc:docMk/>
            <pc:sldMk cId="0" sldId="256"/>
            <ac:cxnSpMk id="52" creationId="{DB398397-D152-D185-69E5-9C872812170D}"/>
          </ac:cxnSpMkLst>
        </pc:cxnChg>
      </pc:sldChg>
      <pc:sldChg chg="addSp delSp modSp add mod">
        <pc:chgData name="achint chaudhary" userId="a906389ec4008a6a" providerId="LiveId" clId="{2FE5CBE6-3671-4898-B5A9-EAC4E7A10E3D}" dt="2026-09-27T03:25:56.016" v="525" actId="14100"/>
        <pc:sldMkLst>
          <pc:docMk/>
          <pc:sldMk cId="0" sldId="257"/>
        </pc:sldMkLst>
        <pc:spChg chg="mod">
          <ac:chgData name="achint chaudhary" userId="a906389ec4008a6a" providerId="LiveId" clId="{2FE5CBE6-3671-4898-B5A9-EAC4E7A10E3D}" dt="2026-09-27T03:20:05.613" v="463" actId="1582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achint chaudhary" userId="a906389ec4008a6a" providerId="LiveId" clId="{2FE5CBE6-3671-4898-B5A9-EAC4E7A10E3D}" dt="2026-09-27T03:25:09.958" v="520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achint chaudhary" userId="a906389ec4008a6a" providerId="LiveId" clId="{2FE5CBE6-3671-4898-B5A9-EAC4E7A10E3D}" dt="2026-09-27T03:24:24.842" v="515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achint chaudhary" userId="a906389ec4008a6a" providerId="LiveId" clId="{2FE5CBE6-3671-4898-B5A9-EAC4E7A10E3D}" dt="2026-09-27T03:25:29.233" v="521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achint chaudhary" userId="a906389ec4008a6a" providerId="LiveId" clId="{2FE5CBE6-3671-4898-B5A9-EAC4E7A10E3D}" dt="2026-09-27T03:01:20.811" v="344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achint chaudhary" userId="a906389ec4008a6a" providerId="LiveId" clId="{2FE5CBE6-3671-4898-B5A9-EAC4E7A10E3D}" dt="2026-09-27T03:01:28.047" v="347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achint chaudhary" userId="a906389ec4008a6a" providerId="LiveId" clId="{2FE5CBE6-3671-4898-B5A9-EAC4E7A10E3D}" dt="2026-09-27T03:01:33.968" v="349" actId="478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2:41.537" v="502" actId="25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06:26.920" v="405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2:55.186" v="503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3:01.134" v="504" actId="25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3:06.844" v="505" actId="255"/>
          <ac:spMkLst>
            <pc:docMk/>
            <pc:sldMk cId="0" sldId="257"/>
            <ac:spMk id="19" creationId="{00000000-0000-0000-0000-000000000000}"/>
          </ac:spMkLst>
        </pc:spChg>
        <pc:spChg chg="del mod">
          <ac:chgData name="achint chaudhary" userId="a906389ec4008a6a" providerId="LiveId" clId="{2FE5CBE6-3671-4898-B5A9-EAC4E7A10E3D}" dt="2026-09-27T02:58:50.469" v="275" actId="47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5:56.016" v="525" actId="1410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3:28.436" v="508" actId="25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3:34.703" v="509" actId="25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3:41.796" v="510" actId="25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3:48.718" v="511" actId="25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3:57.077" v="512" actId="255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5:36.462" v="523" actId="313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chint chaudhary" userId="a906389ec4008a6a" providerId="LiveId" clId="{2FE5CBE6-3671-4898-B5A9-EAC4E7A10E3D}" dt="2026-09-27T03:24:10.274" v="514" actId="255"/>
          <ac:spMkLst>
            <pc:docMk/>
            <pc:sldMk cId="0" sldId="257"/>
            <ac:spMk id="28" creationId="{00000000-0000-0000-0000-000000000000}"/>
          </ac:spMkLst>
        </pc:spChg>
        <pc:spChg chg="add mod">
          <ac:chgData name="achint chaudhary" userId="a906389ec4008a6a" providerId="LiveId" clId="{2FE5CBE6-3671-4898-B5A9-EAC4E7A10E3D}" dt="2026-09-27T03:23:17.131" v="506" actId="255"/>
          <ac:spMkLst>
            <pc:docMk/>
            <pc:sldMk cId="0" sldId="257"/>
            <ac:spMk id="47" creationId="{063C8BE2-1A13-4DD6-1EF2-8A98BA8FDDBB}"/>
          </ac:spMkLst>
        </pc:spChg>
        <pc:spChg chg="add del">
          <ac:chgData name="achint chaudhary" userId="a906389ec4008a6a" providerId="LiveId" clId="{2FE5CBE6-3671-4898-B5A9-EAC4E7A10E3D}" dt="2026-09-27T03:00:41.494" v="339" actId="478"/>
          <ac:spMkLst>
            <pc:docMk/>
            <pc:sldMk cId="0" sldId="257"/>
            <ac:spMk id="48" creationId="{15C6CB08-25CB-BE0A-DB4F-86AD2AF55CF3}"/>
          </ac:spMkLst>
        </pc:spChg>
        <pc:spChg chg="add del">
          <ac:chgData name="achint chaudhary" userId="a906389ec4008a6a" providerId="LiveId" clId="{2FE5CBE6-3671-4898-B5A9-EAC4E7A10E3D}" dt="2026-09-27T03:00:50.985" v="341" actId="478"/>
          <ac:spMkLst>
            <pc:docMk/>
            <pc:sldMk cId="0" sldId="257"/>
            <ac:spMk id="49" creationId="{44E4044C-14E9-6465-F2E6-430702CDC936}"/>
          </ac:spMkLst>
        </pc:spChg>
        <pc:spChg chg="add">
          <ac:chgData name="achint chaudhary" userId="a906389ec4008a6a" providerId="LiveId" clId="{2FE5CBE6-3671-4898-B5A9-EAC4E7A10E3D}" dt="2026-09-27T03:25:30.418" v="522" actId="22"/>
          <ac:spMkLst>
            <pc:docMk/>
            <pc:sldMk cId="0" sldId="257"/>
            <ac:spMk id="148" creationId="{0439A0AE-C140-25FA-D293-462C7DDFC95C}"/>
          </ac:spMkLst>
        </pc:spChg>
        <pc:cxnChg chg="mod">
          <ac:chgData name="achint chaudhary" userId="a906389ec4008a6a" providerId="LiveId" clId="{2FE5CBE6-3671-4898-B5A9-EAC4E7A10E3D}" dt="2026-09-27T03:20:05.613" v="463" actId="1582"/>
          <ac:cxnSpMkLst>
            <pc:docMk/>
            <pc:sldMk cId="0" sldId="257"/>
            <ac:cxnSpMk id="29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04:46.384" v="381" actId="478"/>
          <ac:cxnSpMkLst>
            <pc:docMk/>
            <pc:sldMk cId="0" sldId="257"/>
            <ac:cxnSpMk id="30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04:48.326" v="382" actId="478"/>
          <ac:cxnSpMkLst>
            <pc:docMk/>
            <pc:sldMk cId="0" sldId="257"/>
            <ac:cxnSpMk id="31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03:48.076" v="372" actId="478"/>
          <ac:cxnSpMkLst>
            <pc:docMk/>
            <pc:sldMk cId="0" sldId="257"/>
            <ac:cxnSpMk id="32" creationId="{00000000-0000-0000-0000-000000000000}"/>
          </ac:cxnSpMkLst>
        </pc:cxnChg>
        <pc:cxnChg chg="del mod">
          <ac:chgData name="achint chaudhary" userId="a906389ec4008a6a" providerId="LiveId" clId="{2FE5CBE6-3671-4898-B5A9-EAC4E7A10E3D}" dt="2026-09-27T03:03:37.261" v="368" actId="478"/>
          <ac:cxnSpMkLst>
            <pc:docMk/>
            <pc:sldMk cId="0" sldId="257"/>
            <ac:cxnSpMk id="33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3:20:05.613" v="463" actId="1582"/>
          <ac:cxnSpMkLst>
            <pc:docMk/>
            <pc:sldMk cId="0" sldId="257"/>
            <ac:cxnSpMk id="34" creationId="{00000000-0000-0000-0000-000000000000}"/>
          </ac:cxnSpMkLst>
        </pc:cxnChg>
        <pc:cxnChg chg="del mod">
          <ac:chgData name="achint chaudhary" userId="a906389ec4008a6a" providerId="LiveId" clId="{2FE5CBE6-3671-4898-B5A9-EAC4E7A10E3D}" dt="2026-09-27T03:07:31.998" v="413" actId="478"/>
          <ac:cxnSpMkLst>
            <pc:docMk/>
            <pc:sldMk cId="0" sldId="257"/>
            <ac:cxnSpMk id="35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07:22.572" v="412" actId="478"/>
          <ac:cxnSpMkLst>
            <pc:docMk/>
            <pc:sldMk cId="0" sldId="257"/>
            <ac:cxnSpMk id="36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07:45.339" v="417" actId="478"/>
          <ac:cxnSpMkLst>
            <pc:docMk/>
            <pc:sldMk cId="0" sldId="257"/>
            <ac:cxnSpMk id="37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12:05.545" v="422" actId="478"/>
          <ac:cxnSpMkLst>
            <pc:docMk/>
            <pc:sldMk cId="0" sldId="257"/>
            <ac:cxnSpMk id="38" creationId="{00000000-0000-0000-0000-000000000000}"/>
          </ac:cxnSpMkLst>
        </pc:cxnChg>
        <pc:cxnChg chg="add del mod">
          <ac:chgData name="achint chaudhary" userId="a906389ec4008a6a" providerId="LiveId" clId="{2FE5CBE6-3671-4898-B5A9-EAC4E7A10E3D}" dt="2026-09-27T03:15:23.631" v="446" actId="1582"/>
          <ac:cxnSpMkLst>
            <pc:docMk/>
            <pc:sldMk cId="0" sldId="257"/>
            <ac:cxnSpMk id="39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15:54.701" v="450" actId="478"/>
          <ac:cxnSpMkLst>
            <pc:docMk/>
            <pc:sldMk cId="0" sldId="257"/>
            <ac:cxnSpMk id="40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15:56.763" v="451" actId="478"/>
          <ac:cxnSpMkLst>
            <pc:docMk/>
            <pc:sldMk cId="0" sldId="257"/>
            <ac:cxnSpMk id="41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08:03.242" v="419" actId="478"/>
          <ac:cxnSpMkLst>
            <pc:docMk/>
            <pc:sldMk cId="0" sldId="257"/>
            <ac:cxnSpMk id="42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08:05.763" v="420" actId="478"/>
          <ac:cxnSpMkLst>
            <pc:docMk/>
            <pc:sldMk cId="0" sldId="257"/>
            <ac:cxnSpMk id="43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3:08:08.417" v="421" actId="478"/>
          <ac:cxnSpMkLst>
            <pc:docMk/>
            <pc:sldMk cId="0" sldId="257"/>
            <ac:cxnSpMk id="44" creationId="{00000000-0000-0000-0000-000000000000}"/>
          </ac:cxnSpMkLst>
        </pc:cxnChg>
        <pc:cxnChg chg="add del">
          <ac:chgData name="achint chaudhary" userId="a906389ec4008a6a" providerId="LiveId" clId="{2FE5CBE6-3671-4898-B5A9-EAC4E7A10E3D}" dt="2026-09-27T03:03:29.082" v="367" actId="478"/>
          <ac:cxnSpMkLst>
            <pc:docMk/>
            <pc:sldMk cId="0" sldId="257"/>
            <ac:cxnSpMk id="58" creationId="{B51B7D54-C0C8-3E90-AA40-68C22AEB5CD7}"/>
          </ac:cxnSpMkLst>
        </pc:cxnChg>
        <pc:cxnChg chg="add mod">
          <ac:chgData name="achint chaudhary" userId="a906389ec4008a6a" providerId="LiveId" clId="{2FE5CBE6-3671-4898-B5A9-EAC4E7A10E3D}" dt="2026-09-27T03:20:05.613" v="463" actId="1582"/>
          <ac:cxnSpMkLst>
            <pc:docMk/>
            <pc:sldMk cId="0" sldId="257"/>
            <ac:cxnSpMk id="59" creationId="{F36CEDA5-4350-27E4-D085-77193177557B}"/>
          </ac:cxnSpMkLst>
        </pc:cxnChg>
        <pc:cxnChg chg="add mod">
          <ac:chgData name="achint chaudhary" userId="a906389ec4008a6a" providerId="LiveId" clId="{2FE5CBE6-3671-4898-B5A9-EAC4E7A10E3D}" dt="2026-09-27T03:20:05.613" v="463" actId="1582"/>
          <ac:cxnSpMkLst>
            <pc:docMk/>
            <pc:sldMk cId="0" sldId="257"/>
            <ac:cxnSpMk id="62" creationId="{861BB561-0C12-976C-890F-DC8EBB86026C}"/>
          </ac:cxnSpMkLst>
        </pc:cxnChg>
        <pc:cxnChg chg="add mod">
          <ac:chgData name="achint chaudhary" userId="a906389ec4008a6a" providerId="LiveId" clId="{2FE5CBE6-3671-4898-B5A9-EAC4E7A10E3D}" dt="2026-09-27T03:20:05.613" v="463" actId="1582"/>
          <ac:cxnSpMkLst>
            <pc:docMk/>
            <pc:sldMk cId="0" sldId="257"/>
            <ac:cxnSpMk id="66" creationId="{B2E06572-035F-AB25-6942-41FCAF95952D}"/>
          </ac:cxnSpMkLst>
        </pc:cxnChg>
        <pc:cxnChg chg="add mod">
          <ac:chgData name="achint chaudhary" userId="a906389ec4008a6a" providerId="LiveId" clId="{2FE5CBE6-3671-4898-B5A9-EAC4E7A10E3D}" dt="2026-09-27T03:20:05.613" v="463" actId="1582"/>
          <ac:cxnSpMkLst>
            <pc:docMk/>
            <pc:sldMk cId="0" sldId="257"/>
            <ac:cxnSpMk id="69" creationId="{9F72CACC-22C6-046E-3DE3-E125B2A22546}"/>
          </ac:cxnSpMkLst>
        </pc:cxnChg>
        <pc:cxnChg chg="add mod">
          <ac:chgData name="achint chaudhary" userId="a906389ec4008a6a" providerId="LiveId" clId="{2FE5CBE6-3671-4898-B5A9-EAC4E7A10E3D}" dt="2026-09-27T03:25:56.016" v="525" actId="14100"/>
          <ac:cxnSpMkLst>
            <pc:docMk/>
            <pc:sldMk cId="0" sldId="257"/>
            <ac:cxnSpMk id="115" creationId="{69DD5DB8-E3B6-1535-2FED-EDE906391471}"/>
          </ac:cxnSpMkLst>
        </pc:cxnChg>
        <pc:cxnChg chg="add del">
          <ac:chgData name="achint chaudhary" userId="a906389ec4008a6a" providerId="LiveId" clId="{2FE5CBE6-3671-4898-B5A9-EAC4E7A10E3D}" dt="2026-09-27T03:12:22.279" v="424" actId="478"/>
          <ac:cxnSpMkLst>
            <pc:docMk/>
            <pc:sldMk cId="0" sldId="257"/>
            <ac:cxnSpMk id="120" creationId="{1A62356F-DF5B-78F5-A93A-D60BF17FDBD7}"/>
          </ac:cxnSpMkLst>
        </pc:cxnChg>
        <pc:cxnChg chg="add mod">
          <ac:chgData name="achint chaudhary" userId="a906389ec4008a6a" providerId="LiveId" clId="{2FE5CBE6-3671-4898-B5A9-EAC4E7A10E3D}" dt="2026-09-27T03:15:34.991" v="447" actId="1582"/>
          <ac:cxnSpMkLst>
            <pc:docMk/>
            <pc:sldMk cId="0" sldId="257"/>
            <ac:cxnSpMk id="123" creationId="{903B8F40-F89E-F38C-C818-B0660E8F632A}"/>
          </ac:cxnSpMkLst>
        </pc:cxnChg>
        <pc:cxnChg chg="add mod">
          <ac:chgData name="achint chaudhary" userId="a906389ec4008a6a" providerId="LiveId" clId="{2FE5CBE6-3671-4898-B5A9-EAC4E7A10E3D}" dt="2026-09-27T03:15:42.864" v="448" actId="1582"/>
          <ac:cxnSpMkLst>
            <pc:docMk/>
            <pc:sldMk cId="0" sldId="257"/>
            <ac:cxnSpMk id="124" creationId="{15AD05FB-DBCB-4C97-84E7-6378FDAD469B}"/>
          </ac:cxnSpMkLst>
        </pc:cxnChg>
        <pc:cxnChg chg="add mod">
          <ac:chgData name="achint chaudhary" userId="a906389ec4008a6a" providerId="LiveId" clId="{2FE5CBE6-3671-4898-B5A9-EAC4E7A10E3D}" dt="2026-09-27T03:25:56.016" v="525" actId="14100"/>
          <ac:cxnSpMkLst>
            <pc:docMk/>
            <pc:sldMk cId="0" sldId="257"/>
            <ac:cxnSpMk id="133" creationId="{1EDFCE23-F182-E55E-87BE-F9CB9C0A71E7}"/>
          </ac:cxnSpMkLst>
        </pc:cxnChg>
        <pc:cxnChg chg="add mod">
          <ac:chgData name="achint chaudhary" userId="a906389ec4008a6a" providerId="LiveId" clId="{2FE5CBE6-3671-4898-B5A9-EAC4E7A10E3D}" dt="2026-09-27T03:19:04.905" v="460" actId="14100"/>
          <ac:cxnSpMkLst>
            <pc:docMk/>
            <pc:sldMk cId="0" sldId="257"/>
            <ac:cxnSpMk id="136" creationId="{DCF77BE9-832E-D1CA-9313-1F776DD3CE44}"/>
          </ac:cxnSpMkLst>
        </pc:cxnChg>
        <pc:cxnChg chg="add mod">
          <ac:chgData name="achint chaudhary" userId="a906389ec4008a6a" providerId="LiveId" clId="{2FE5CBE6-3671-4898-B5A9-EAC4E7A10E3D}" dt="2026-09-27T03:25:56.016" v="525" actId="14100"/>
          <ac:cxnSpMkLst>
            <pc:docMk/>
            <pc:sldMk cId="0" sldId="257"/>
            <ac:cxnSpMk id="140" creationId="{D1248E2B-B7C1-97AB-0500-1DAFE5211967}"/>
          </ac:cxnSpMkLst>
        </pc:cxnChg>
      </pc:sldChg>
      <pc:sldChg chg="add">
        <pc:chgData name="achint chaudhary" userId="a906389ec4008a6a" providerId="LiveId" clId="{2FE5CBE6-3671-4898-B5A9-EAC4E7A10E3D}" dt="2026-09-27T06:05:49.006" v="526"/>
        <pc:sldMkLst>
          <pc:docMk/>
          <pc:sldMk cId="0" sldId="258"/>
        </pc:sldMkLst>
      </pc:sldChg>
      <pc:sldChg chg="add">
        <pc:chgData name="achint chaudhary" userId="a906389ec4008a6a" providerId="LiveId" clId="{2FE5CBE6-3671-4898-B5A9-EAC4E7A10E3D}" dt="2026-09-27T06:05:49.006" v="526"/>
        <pc:sldMkLst>
          <pc:docMk/>
          <pc:sldMk cId="0" sldId="259"/>
        </pc:sldMkLst>
      </pc:sldChg>
      <pc:sldChg chg="delSp modSp add mod setBg">
        <pc:chgData name="achint chaudhary" userId="a906389ec4008a6a" providerId="LiveId" clId="{2FE5CBE6-3671-4898-B5A9-EAC4E7A10E3D}" dt="2026-09-27T06:49:16.033" v="532" actId="478"/>
        <pc:sldMkLst>
          <pc:docMk/>
          <pc:sldMk cId="0" sldId="260"/>
        </pc:sldMkLst>
        <pc:cxnChg chg="mod">
          <ac:chgData name="achint chaudhary" userId="a906389ec4008a6a" providerId="LiveId" clId="{2FE5CBE6-3671-4898-B5A9-EAC4E7A10E3D}" dt="2026-09-27T06:48:56.309" v="529" actId="14100"/>
          <ac:cxnSpMkLst>
            <pc:docMk/>
            <pc:sldMk cId="0" sldId="260"/>
            <ac:cxnSpMk id="27" creationId="{00000000-0000-0000-0000-000000000000}"/>
          </ac:cxnSpMkLst>
        </pc:cxnChg>
        <pc:cxnChg chg="mod">
          <ac:chgData name="achint chaudhary" userId="a906389ec4008a6a" providerId="LiveId" clId="{2FE5CBE6-3671-4898-B5A9-EAC4E7A10E3D}" dt="2026-09-27T06:49:05.367" v="531" actId="14100"/>
          <ac:cxnSpMkLst>
            <pc:docMk/>
            <pc:sldMk cId="0" sldId="260"/>
            <ac:cxnSpMk id="29" creationId="{00000000-0000-0000-0000-000000000000}"/>
          </ac:cxnSpMkLst>
        </pc:cxnChg>
        <pc:cxnChg chg="del">
          <ac:chgData name="achint chaudhary" userId="a906389ec4008a6a" providerId="LiveId" clId="{2FE5CBE6-3671-4898-B5A9-EAC4E7A10E3D}" dt="2026-09-27T06:49:16.033" v="532" actId="478"/>
          <ac:cxnSpMkLst>
            <pc:docMk/>
            <pc:sldMk cId="0" sldId="260"/>
            <ac:cxnSpMk id="39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C194B-97FC-4763-BEA6-AD77BE630B72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5DECB-56AF-462D-A648-D97B5F4A5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5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rationale (vs. original draft):</a:t>
            </a:r>
          </a:p>
          <a:p>
            <a:r>
              <a:t>1. Original encoded the rank NUMBER as bar length, giving the largest visual weight to the LEAST predictive variable; here bars are inverted (bar end sits on its rank tick on a reversed axis) so visual weight matches importance and the Nrf-2 supremacy reads instantly.</a:t>
            </a:r>
          </a:p>
          <a:p>
            <a:r>
              <a:t>2. Rank is still encoded honestly by POSITION (ticks 7..1); direct '#n' badges remove back-and-forth with the axis.</a:t>
            </a:r>
          </a:p>
          <a:p>
            <a:r>
              <a:t>3. The redundant viridis gradient is replaced by Okabe-Ito colour-blind-safe hues that carry meaning (molecular vs behavioral/physiological vs design predictors).</a:t>
            </a:r>
          </a:p>
          <a:p>
            <a:r>
              <a:t>4. Journal style: white background, Arial, minimal chartjunk, caption included.</a:t>
            </a:r>
          </a:p>
          <a:p>
            <a:r>
              <a:t>All elements are native editable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Alternative encoding for reviewers who object to area-based encoding of ordinal ranks. Dots are ordered best-on-top; colour = predictor class; all shapes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FIGURE CAPTION</a:t>
            </a:r>
          </a:p>
          <a:p>
            <a:endParaRPr/>
          </a:p>
          <a:p>
            <a:r>
              <a:t>Figure 2. Proposed BDNF_SUP-mediated association between mecamylamine dose and pain latency.</a:t>
            </a:r>
          </a:p>
          <a:p>
            <a:endParaRPr/>
          </a:p>
          <a:p>
            <a:r>
              <a:t>(A) Mediation model linking mecamylamine dose (X), the CCA-derived cortical BDNF_SUP score (M), and post-treatment pain latency (Y) in a rodent model of nicotine withdrawal–associated hyperalgesia. Bootstrap mediation used 1,000 resamples and was adjusted for baseline latency and study duration (4 vs 12 weeks). The direct-effect estimate was c′ = 0.3759 (CI not reported). The LMM association along path b (BDNF_SUP → pain latency) was β = −0.741, p = 0.027; this LMM estimate is reported separately from the bootstrap indirect effects.</a:t>
            </a:r>
          </a:p>
          <a:p>
            <a:endParaRPr/>
          </a:p>
          <a:p>
            <a:r>
              <a:t>(B) The full dataset (N = 100, including imputation) yielded an indirect effect of ab = 0.3460 (95% CI [0.1504, 0.5986]). Sensitivity analysis of the non-imputed biological subset (N = 50) yielded ab = 0.4737 (95% CI [0.1570, 0.8642]). Points and horizontal bars represent estimates and 95% CIs; the dashed line marks zero. Arrows indicate the proposed model, not definitive proof of causation.</a:t>
            </a:r>
          </a:p>
          <a:p>
            <a:endParaRPr/>
          </a:p>
          <a:p>
            <a:r>
              <a:t>BDNF, brain-derived neurotrophic factor; CCA, canonical correlation analysis; CI, confidence interval; LMM, linear mixed-effects model; nAChR, nicotinic acetylcholine receptor.</a:t>
            </a:r>
          </a:p>
          <a:p>
            <a:endParaRPr/>
          </a:p>
          <a:p>
            <a:r>
              <a:t>DESIGN AND EDITING</a:t>
            </a:r>
          </a:p>
          <a:p>
            <a:r>
              <a:t>Exact 16:9 widescreen: 13⅓ × 7½ inches (12192000 × 6858000 EMU). Every figure element, text label, line, confidence-interval marker, and caption is native editable PowerPoint content. Nodes are grouped by variable. The compact on-slide caption is supplemented by the full caption above and the previously supplied Figure_2_caption.docx.</a:t>
            </a:r>
          </a:p>
          <a:p>
            <a:endParaRPr/>
          </a:p>
          <a:p>
            <a:r>
              <a:t>REFERENCE PALETTE</a:t>
            </a:r>
          </a:p>
          <a:p>
            <a:r>
              <a:t>Colors sampled from the user-provided first-four-slide reference: treatment blue #2E75D9; mediator orange #E2620D; outcome green #2E7D4F; supporting-method purple #7C3FB0; plot blue #0072B2 and amber #E69F00. Color distinguishes concepts/analyses, not statistical significance.</a:t>
            </a:r>
          </a:p>
          <a:p>
            <a:endParaRPr/>
          </a:p>
          <a:p>
            <a:r>
              <a:t>STATISTICAL PROVENANCE</a:t>
            </a:r>
          </a:p>
          <a:p>
            <a:r>
              <a:t>Bootstrap estimates, confidence intervals, reported N values and adjustment covariates are from the supplied technical report, Section 4.3. The association along path b is explicitly the LMM estimate β = −0.741, p = 0.027 (Section 4.2 and user clarification); it is not silently substituted into the bootstrap product ab. The direct effect c′ = 0.3759 is from the original Figure 2; its CI is not supplied. No estimates have been re-estimated or standardized. The original abstract/Section 4.3 CI discrepancy requires author verification before submission.</a:t>
            </a:r>
          </a:p>
          <a:p>
            <a:endParaRPr/>
          </a:p>
          <a:p>
            <a:r>
              <a:t>AI-ASSISTED FIGURE PREPARATION</a:t>
            </a:r>
          </a:p>
          <a:p>
            <a:r>
              <a:t>Arena.ai Agent Mode assisted with graphical layout and code generation. The schematic and plot were created programmatically from the author-supplied summary statistics. No primary experimental images were generated or altered.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207122"/>
            <a:ext cx="11823192" cy="344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1" i="0" dirty="0">
                <a:solidFill>
                  <a:srgbClr val="154360"/>
                </a:solidFill>
                <a:latin typeface="Calibri"/>
              </a:rPr>
              <a:t>Nicotine Withdrawal–Induced Hyperalgesia: A Three-Stage Computational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777240"/>
            <a:ext cx="3611880" cy="5897880"/>
          </a:xfrm>
          <a:prstGeom prst="rect">
            <a:avLst/>
          </a:prstGeom>
          <a:solidFill>
            <a:srgbClr val="F8F9FA"/>
          </a:solidFill>
          <a:ln w="15875">
            <a:solidFill>
              <a:srgbClr val="95A5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" name="Rectangle 3"/>
          <p:cNvSpPr/>
          <p:nvPr/>
        </p:nvSpPr>
        <p:spPr>
          <a:xfrm>
            <a:off x="4160520" y="785004"/>
            <a:ext cx="4041648" cy="5897880"/>
          </a:xfrm>
          <a:prstGeom prst="rect">
            <a:avLst/>
          </a:prstGeom>
          <a:solidFill>
            <a:srgbClr val="F8F9FA"/>
          </a:solidFill>
          <a:ln w="15875">
            <a:solidFill>
              <a:srgbClr val="95A5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" name="Rectangle 4"/>
          <p:cNvSpPr/>
          <p:nvPr/>
        </p:nvSpPr>
        <p:spPr>
          <a:xfrm>
            <a:off x="8503920" y="777240"/>
            <a:ext cx="3520440" cy="5897880"/>
          </a:xfrm>
          <a:prstGeom prst="rect">
            <a:avLst/>
          </a:prstGeom>
          <a:solidFill>
            <a:srgbClr val="F8F9FA"/>
          </a:solidFill>
          <a:ln w="15875">
            <a:solidFill>
              <a:srgbClr val="95A5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" name="TextBox 5"/>
          <p:cNvSpPr txBox="1"/>
          <p:nvPr/>
        </p:nvSpPr>
        <p:spPr>
          <a:xfrm>
            <a:off x="137160" y="893591"/>
            <a:ext cx="361188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1. In Vivo Model &amp;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" y="1307592"/>
            <a:ext cx="2468880" cy="566928"/>
          </a:xfrm>
          <a:prstGeom prst="roundRect">
            <a:avLst/>
          </a:prstGeom>
          <a:solidFill>
            <a:srgbClr val="D6EAF8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 dirty="0">
                <a:solidFill>
                  <a:srgbClr val="1A5276"/>
                </a:solidFill>
                <a:latin typeface="Calibri"/>
              </a:rPr>
              <a:t>Rodent Model</a:t>
            </a:r>
          </a:p>
          <a:p>
            <a:pPr algn="ctr"/>
            <a:r>
              <a:rPr sz="1100" b="0" i="0" dirty="0">
                <a:solidFill>
                  <a:srgbClr val="1A5276"/>
                </a:solidFill>
                <a:latin typeface="Calibri"/>
              </a:rPr>
              <a:t>(</a:t>
            </a:r>
            <a:r>
              <a:rPr lang="en-US" sz="1100" b="0" i="0" dirty="0">
                <a:solidFill>
                  <a:srgbClr val="1A5276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A5276"/>
                </a:solidFill>
                <a:latin typeface="Calibri"/>
              </a:rPr>
              <a:t>Smoking</a:t>
            </a:r>
            <a:r>
              <a:rPr lang="en-US" sz="1100" b="0" i="0" dirty="0">
                <a:solidFill>
                  <a:srgbClr val="1A5276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A5276"/>
                </a:solidFill>
                <a:latin typeface="Calibri"/>
              </a:rPr>
              <a:t>/</a:t>
            </a:r>
            <a:r>
              <a:rPr lang="en-US" sz="1100" b="0" i="0" dirty="0">
                <a:solidFill>
                  <a:srgbClr val="1A5276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A5276"/>
                </a:solidFill>
                <a:latin typeface="Calibri"/>
              </a:rPr>
              <a:t>Nicotine</a:t>
            </a:r>
            <a:r>
              <a:rPr lang="en-US" sz="1100" b="0" i="0" dirty="0">
                <a:solidFill>
                  <a:srgbClr val="1A5276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A5276"/>
                </a:solidFill>
                <a:latin typeface="Calibri"/>
              </a:rPr>
              <a:t>)</a:t>
            </a:r>
          </a:p>
        </p:txBody>
      </p:sp>
      <p:cxnSp>
        <p:nvCxnSpPr>
          <p:cNvPr id="8" name="Connector 7"/>
          <p:cNvCxnSpPr>
            <a:cxnSpLocks/>
            <a:stCxn id="7" idx="2"/>
            <a:endCxn id="9" idx="0"/>
          </p:cNvCxnSpPr>
          <p:nvPr/>
        </p:nvCxnSpPr>
        <p:spPr>
          <a:xfrm>
            <a:off x="1943100" y="1874520"/>
            <a:ext cx="0" cy="248096"/>
          </a:xfrm>
          <a:prstGeom prst="line">
            <a:avLst/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08660" y="2122616"/>
            <a:ext cx="2468880" cy="566928"/>
          </a:xfrm>
          <a:prstGeom prst="roundRect">
            <a:avLst/>
          </a:prstGeom>
          <a:solidFill>
            <a:srgbClr val="D6EAF8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 dirty="0">
                <a:solidFill>
                  <a:srgbClr val="1A5276"/>
                </a:solidFill>
                <a:latin typeface="Calibri"/>
              </a:rPr>
              <a:t>Mecamylamine</a:t>
            </a:r>
          </a:p>
          <a:p>
            <a:pPr algn="ctr"/>
            <a:r>
              <a:rPr sz="1100" b="1" i="0" dirty="0">
                <a:solidFill>
                  <a:srgbClr val="1A5276"/>
                </a:solidFill>
                <a:latin typeface="Calibri"/>
              </a:rPr>
              <a:t>Intervention</a:t>
            </a:r>
          </a:p>
        </p:txBody>
      </p:sp>
      <p:cxnSp>
        <p:nvCxnSpPr>
          <p:cNvPr id="10" name="Connector 9"/>
          <p:cNvCxnSpPr>
            <a:cxnSpLocks/>
            <a:stCxn id="9" idx="2"/>
            <a:endCxn id="12" idx="1"/>
          </p:cNvCxnSpPr>
          <p:nvPr/>
        </p:nvCxnSpPr>
        <p:spPr>
          <a:xfrm rot="5400000">
            <a:off x="1321912" y="2460340"/>
            <a:ext cx="391984" cy="850392"/>
          </a:xfrm>
          <a:prstGeom prst="bentConnector3">
            <a:avLst>
              <a:gd name="adj1" fmla="val 50000"/>
            </a:avLst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n 11"/>
          <p:cNvSpPr/>
          <p:nvPr/>
        </p:nvSpPr>
        <p:spPr>
          <a:xfrm>
            <a:off x="306324" y="3081528"/>
            <a:ext cx="1572768" cy="1005840"/>
          </a:xfrm>
          <a:prstGeom prst="can">
            <a:avLst>
              <a:gd name="adj" fmla="val 20000"/>
            </a:avLst>
          </a:prstGeom>
          <a:solidFill>
            <a:srgbClr val="D6EAF8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 dirty="0">
                <a:solidFill>
                  <a:srgbClr val="1A5276"/>
                </a:solidFill>
                <a:latin typeface="Calibri"/>
              </a:rPr>
              <a:t>Behavioral Data</a:t>
            </a:r>
          </a:p>
          <a:p>
            <a:pPr algn="ctr"/>
            <a:r>
              <a:rPr sz="1100" b="0" i="0" dirty="0">
                <a:solidFill>
                  <a:srgbClr val="1A5276"/>
                </a:solidFill>
                <a:latin typeface="Calibri"/>
              </a:rPr>
              <a:t>N</a:t>
            </a:r>
            <a:r>
              <a:rPr lang="en-US" sz="1100" b="0" i="0" dirty="0">
                <a:solidFill>
                  <a:srgbClr val="1A5276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A5276"/>
                </a:solidFill>
                <a:latin typeface="Calibri"/>
              </a:rPr>
              <a:t>=</a:t>
            </a:r>
            <a:r>
              <a:rPr lang="en-US" sz="1100" b="0" i="0" dirty="0">
                <a:solidFill>
                  <a:srgbClr val="1A5276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A5276"/>
                </a:solidFill>
                <a:latin typeface="Calibri"/>
              </a:rPr>
              <a:t>100 (Pain Latency)</a:t>
            </a:r>
            <a:endParaRPr lang="en-US" sz="1100" b="0" i="0" dirty="0">
              <a:solidFill>
                <a:srgbClr val="1A5276"/>
              </a:solidFill>
              <a:latin typeface="Calibri"/>
            </a:endParaRPr>
          </a:p>
        </p:txBody>
      </p:sp>
      <p:sp>
        <p:nvSpPr>
          <p:cNvPr id="13" name="Can 12"/>
          <p:cNvSpPr/>
          <p:nvPr/>
        </p:nvSpPr>
        <p:spPr>
          <a:xfrm>
            <a:off x="1993392" y="3081528"/>
            <a:ext cx="1572768" cy="1005840"/>
          </a:xfrm>
          <a:prstGeom prst="can">
            <a:avLst>
              <a:gd name="adj" fmla="val 20000"/>
            </a:avLst>
          </a:prstGeom>
          <a:solidFill>
            <a:srgbClr val="D6EAF8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 dirty="0">
                <a:solidFill>
                  <a:srgbClr val="1A5276"/>
                </a:solidFill>
                <a:latin typeface="Calibri"/>
              </a:rPr>
              <a:t>Genetic IHC Data</a:t>
            </a:r>
          </a:p>
          <a:p>
            <a:pPr algn="ctr"/>
            <a:r>
              <a:rPr sz="1100" b="0" i="0" dirty="0">
                <a:solidFill>
                  <a:srgbClr val="1A5276"/>
                </a:solidFill>
                <a:latin typeface="Calibri"/>
              </a:rPr>
              <a:t>N</a:t>
            </a:r>
            <a:r>
              <a:rPr lang="en-US" sz="1100" b="0" i="0" dirty="0">
                <a:solidFill>
                  <a:srgbClr val="1A5276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A5276"/>
                </a:solidFill>
                <a:latin typeface="Calibri"/>
              </a:rPr>
              <a:t>=</a:t>
            </a:r>
            <a:r>
              <a:rPr lang="en-US" sz="1100" b="0" i="0" dirty="0">
                <a:solidFill>
                  <a:srgbClr val="1A5276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A5276"/>
                </a:solidFill>
                <a:latin typeface="Calibri"/>
              </a:rPr>
              <a:t>50</a:t>
            </a:r>
            <a:endParaRPr lang="en-US" sz="1100" b="0" i="0" dirty="0">
              <a:solidFill>
                <a:srgbClr val="1A5276"/>
              </a:solidFill>
              <a:latin typeface="Calibri"/>
            </a:endParaRPr>
          </a:p>
          <a:p>
            <a:pPr algn="ctr"/>
            <a:r>
              <a:rPr lang="en-IN" sz="1100" dirty="0">
                <a:solidFill>
                  <a:srgbClr val="1A5276"/>
                </a:solidFill>
                <a:latin typeface="Calibri"/>
              </a:rPr>
              <a:t>Missing Cohorts</a:t>
            </a:r>
            <a:endParaRPr sz="1100" b="0" i="0" dirty="0">
              <a:solidFill>
                <a:srgbClr val="1A5276"/>
              </a:solidFill>
              <a:latin typeface="Calibri"/>
            </a:endParaRPr>
          </a:p>
        </p:txBody>
      </p:sp>
      <p:cxnSp>
        <p:nvCxnSpPr>
          <p:cNvPr id="14" name="Connector 13"/>
          <p:cNvCxnSpPr>
            <a:cxnSpLocks/>
            <a:stCxn id="12" idx="3"/>
            <a:endCxn id="16" idx="1"/>
          </p:cNvCxnSpPr>
          <p:nvPr/>
        </p:nvCxnSpPr>
        <p:spPr>
          <a:xfrm rot="5400000">
            <a:off x="363474" y="4318254"/>
            <a:ext cx="960120" cy="498348"/>
          </a:xfrm>
          <a:prstGeom prst="bentConnector4">
            <a:avLst>
              <a:gd name="adj1" fmla="val 32857"/>
              <a:gd name="adj2" fmla="val 145872"/>
            </a:avLst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13" idx="3"/>
            <a:endCxn id="16" idx="3"/>
          </p:cNvCxnSpPr>
          <p:nvPr/>
        </p:nvCxnSpPr>
        <p:spPr>
          <a:xfrm rot="16200000" flipH="1">
            <a:off x="2555748" y="4311396"/>
            <a:ext cx="960120" cy="512064"/>
          </a:xfrm>
          <a:prstGeom prst="bentConnector4">
            <a:avLst>
              <a:gd name="adj1" fmla="val 32857"/>
              <a:gd name="adj2" fmla="val 167891"/>
            </a:avLst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4718304"/>
            <a:ext cx="2697480" cy="658368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 dirty="0">
                <a:solidFill>
                  <a:srgbClr val="6C3483"/>
                </a:solidFill>
                <a:latin typeface="Calibri"/>
              </a:rPr>
              <a:t>Bayesian-Optimized</a:t>
            </a:r>
            <a:r>
              <a:rPr lang="en-US" sz="1100" b="1" i="0" dirty="0">
                <a:solidFill>
                  <a:srgbClr val="6C3483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6C3483"/>
                </a:solidFill>
                <a:latin typeface="Calibri"/>
              </a:rPr>
              <a:t>ElasticNet</a:t>
            </a:r>
            <a:r>
              <a:rPr sz="1100" b="1" i="0" dirty="0">
                <a:solidFill>
                  <a:srgbClr val="6C3483"/>
                </a:solidFill>
                <a:latin typeface="Calibri"/>
              </a:rPr>
              <a:t> Imputation</a:t>
            </a:r>
            <a:endParaRPr lang="en-US" sz="1100" b="1" i="0" dirty="0">
              <a:solidFill>
                <a:srgbClr val="6C3483"/>
              </a:solidFill>
              <a:latin typeface="Calibri"/>
            </a:endParaRPr>
          </a:p>
          <a:p>
            <a:pPr algn="ctr"/>
            <a:r>
              <a:rPr lang="en-IN" sz="1100" dirty="0">
                <a:solidFill>
                  <a:srgbClr val="6C3483"/>
                </a:solidFill>
                <a:latin typeface="Calibri"/>
              </a:rPr>
              <a:t>10-Fold Cross Validation</a:t>
            </a:r>
          </a:p>
          <a:p>
            <a:pPr algn="ctr"/>
            <a:r>
              <a:rPr lang="en-IN" sz="1100" dirty="0">
                <a:solidFill>
                  <a:srgbClr val="6C3483"/>
                </a:solidFill>
                <a:latin typeface="Calibri"/>
              </a:rPr>
              <a:t>Predictors: Dose, Duration, Route</a:t>
            </a:r>
            <a:endParaRPr sz="1100" i="0" dirty="0">
              <a:solidFill>
                <a:srgbClr val="6C3483"/>
              </a:solidFill>
              <a:latin typeface="Calibri"/>
            </a:endParaRPr>
          </a:p>
        </p:txBody>
      </p:sp>
      <p:cxnSp>
        <p:nvCxnSpPr>
          <p:cNvPr id="17" name="Connector 16"/>
          <p:cNvCxnSpPr>
            <a:cxnSpLocks/>
            <a:stCxn id="16" idx="2"/>
            <a:endCxn id="18" idx="1"/>
          </p:cNvCxnSpPr>
          <p:nvPr/>
        </p:nvCxnSpPr>
        <p:spPr>
          <a:xfrm>
            <a:off x="1943100" y="5376672"/>
            <a:ext cx="0" cy="201168"/>
          </a:xfrm>
          <a:prstGeom prst="line">
            <a:avLst/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891540" y="5577840"/>
            <a:ext cx="2103120" cy="1005840"/>
          </a:xfrm>
          <a:prstGeom prst="can">
            <a:avLst>
              <a:gd name="adj" fmla="val 20000"/>
            </a:avLst>
          </a:prstGeom>
          <a:solidFill>
            <a:srgbClr val="E8DAEF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 dirty="0">
                <a:solidFill>
                  <a:srgbClr val="6C3483"/>
                </a:solidFill>
                <a:latin typeface="Calibri"/>
              </a:rPr>
              <a:t>Harmonized Dataset</a:t>
            </a:r>
          </a:p>
          <a:p>
            <a:pPr algn="ctr"/>
            <a:r>
              <a:rPr sz="1100" b="0" i="0" dirty="0">
                <a:solidFill>
                  <a:srgbClr val="6C3483"/>
                </a:solidFill>
                <a:latin typeface="Calibri"/>
              </a:rPr>
              <a:t>N = 100</a:t>
            </a:r>
            <a:r>
              <a:rPr lang="en-US" sz="1100" b="0" i="0" dirty="0">
                <a:solidFill>
                  <a:srgbClr val="6C3483"/>
                </a:solidFill>
                <a:latin typeface="Calibri"/>
              </a:rPr>
              <a:t> (10 Groups)</a:t>
            </a:r>
          </a:p>
          <a:p>
            <a:pPr algn="ctr"/>
            <a:r>
              <a:rPr lang="en-US" sz="1100" dirty="0">
                <a:solidFill>
                  <a:srgbClr val="6C3483"/>
                </a:solidFill>
                <a:latin typeface="Calibri"/>
              </a:rPr>
              <a:t>Resolved Pseudo-replication</a:t>
            </a:r>
            <a:endParaRPr lang="en-US" sz="1100" b="0" i="0" dirty="0">
              <a:solidFill>
                <a:srgbClr val="6C3483"/>
              </a:solidFill>
              <a:latin typeface="Calibri"/>
            </a:endParaRPr>
          </a:p>
          <a:p>
            <a:pPr algn="ctr"/>
            <a:endParaRPr sz="1100" b="0" i="0" dirty="0">
              <a:solidFill>
                <a:srgbClr val="6C3483"/>
              </a:solidFill>
              <a:latin typeface="Calibri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3762756" y="3410712"/>
            <a:ext cx="384048" cy="822960"/>
          </a:xfrm>
          <a:prstGeom prst="chevron">
            <a:avLst>
              <a:gd name="adj" fmla="val 55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0" name="TextBox 19"/>
          <p:cNvSpPr txBox="1"/>
          <p:nvPr/>
        </p:nvSpPr>
        <p:spPr>
          <a:xfrm>
            <a:off x="4270248" y="901355"/>
            <a:ext cx="393192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2. High-Dimensional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1396" y="2915556"/>
            <a:ext cx="1691640" cy="1828800"/>
          </a:xfrm>
          <a:prstGeom prst="roundRect">
            <a:avLst/>
          </a:prstGeom>
          <a:solidFill>
            <a:srgbClr val="FCF3C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 dirty="0">
                <a:solidFill>
                  <a:srgbClr val="7E5109"/>
                </a:solidFill>
                <a:latin typeface="Calibri"/>
              </a:rPr>
              <a:t>Canonical Correlation</a:t>
            </a:r>
            <a:r>
              <a:rPr lang="en-US" sz="1100" b="1" i="0" dirty="0">
                <a:solidFill>
                  <a:srgbClr val="7E5109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7E5109"/>
                </a:solidFill>
                <a:latin typeface="Calibri"/>
              </a:rPr>
              <a:t>Analysis (CCA)</a:t>
            </a:r>
          </a:p>
          <a:p>
            <a:pPr algn="ctr"/>
            <a:endParaRPr lang="en-US" sz="1100" b="0" i="0" dirty="0">
              <a:solidFill>
                <a:srgbClr val="7E5109"/>
              </a:solidFill>
              <a:latin typeface="Calibri"/>
            </a:endParaRPr>
          </a:p>
          <a:p>
            <a:pPr algn="ctr"/>
            <a:r>
              <a:rPr sz="1100" b="0" i="0" dirty="0">
                <a:solidFill>
                  <a:srgbClr val="7E5109"/>
                </a:solidFill>
                <a:latin typeface="Calibri"/>
              </a:rPr>
              <a:t>Extract Latent Molecular Signal:</a:t>
            </a:r>
            <a:r>
              <a:rPr lang="en-US" sz="1100" b="0" i="0" dirty="0">
                <a:solidFill>
                  <a:srgbClr val="7E5109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B9770E"/>
                </a:solidFill>
                <a:latin typeface="Calibri"/>
              </a:rPr>
              <a:t>BDNF_SUP</a:t>
            </a:r>
            <a:endParaRPr lang="en-US" sz="1100" b="1" i="0" dirty="0">
              <a:solidFill>
                <a:srgbClr val="B9770E"/>
              </a:solidFill>
              <a:latin typeface="Calibri"/>
            </a:endParaRPr>
          </a:p>
          <a:p>
            <a:pPr algn="ctr"/>
            <a:endParaRPr lang="en-IN" sz="1100" b="1" dirty="0">
              <a:solidFill>
                <a:srgbClr val="B9770E"/>
              </a:solidFill>
              <a:latin typeface="Calibri"/>
            </a:endParaRPr>
          </a:p>
          <a:p>
            <a:pPr algn="ctr"/>
            <a:r>
              <a:rPr lang="en-US" sz="1100" dirty="0">
                <a:solidFill>
                  <a:srgbClr val="707070"/>
                </a:solidFill>
              </a:rPr>
              <a:t>Loadings</a:t>
            </a:r>
          </a:p>
          <a:p>
            <a:pPr algn="ctr"/>
            <a:r>
              <a:rPr lang="en-US" sz="1100" dirty="0">
                <a:solidFill>
                  <a:srgbClr val="707070"/>
                </a:solidFill>
              </a:rPr>
              <a:t>BDNF-Trk-</a:t>
            </a:r>
            <a:r>
              <a:rPr lang="el-GR" sz="1100" dirty="0">
                <a:solidFill>
                  <a:srgbClr val="707070"/>
                </a:solidFill>
              </a:rPr>
              <a:t>β 0.93</a:t>
            </a:r>
            <a:endParaRPr lang="en-US" sz="1100" dirty="0">
              <a:solidFill>
                <a:srgbClr val="707070"/>
              </a:solidFill>
            </a:endParaRPr>
          </a:p>
          <a:p>
            <a:pPr algn="ctr"/>
            <a:r>
              <a:rPr lang="en-US" sz="1100" dirty="0">
                <a:solidFill>
                  <a:srgbClr val="707070"/>
                </a:solidFill>
              </a:rPr>
              <a:t>Trk-</a:t>
            </a:r>
            <a:r>
              <a:rPr lang="el-GR" sz="1100" dirty="0">
                <a:solidFill>
                  <a:srgbClr val="707070"/>
                </a:solidFill>
              </a:rPr>
              <a:t>β 0.89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230539"/>
            <a:ext cx="1572768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1">
                <a:solidFill>
                  <a:srgbClr val="616A6B"/>
                </a:solidFill>
                <a:latin typeface="Calibri"/>
              </a:rPr>
              <a:t>Causal Modeling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489092"/>
            <a:ext cx="1572768" cy="1298448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CA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 i="0" dirty="0">
                <a:solidFill>
                  <a:srgbClr val="A04000"/>
                </a:solidFill>
                <a:latin typeface="Calibri"/>
              </a:rPr>
              <a:t>Linear Mixed-Effects (LMM) &amp; Bootstrap Mediation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22179"/>
            <a:ext cx="1572768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1">
                <a:solidFill>
                  <a:srgbClr val="616A6B"/>
                </a:solidFill>
                <a:latin typeface="Calibri"/>
              </a:rPr>
              <a:t>Predictive Diagnostics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180732"/>
            <a:ext cx="1572768" cy="1298448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CA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 i="0">
                <a:solidFill>
                  <a:srgbClr val="A04000"/>
                </a:solidFill>
                <a:latin typeface="Calibri"/>
              </a:rPr>
              <a:t>PLS-DA &amp; Multi-Target RF-RFE (Machine Learning)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613819"/>
            <a:ext cx="1572768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1">
                <a:solidFill>
                  <a:srgbClr val="616A6B"/>
                </a:solidFill>
                <a:latin typeface="Calibri"/>
              </a:rPr>
              <a:t>Phenotypic Mapping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872372"/>
            <a:ext cx="1572768" cy="1298448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CA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 i="0">
                <a:solidFill>
                  <a:srgbClr val="A04000"/>
                </a:solidFill>
                <a:latin typeface="Calibri"/>
              </a:rPr>
              <a:t>Unsupervised Hierarchical Clustering (Ward’s Method)</a:t>
            </a:r>
          </a:p>
        </p:txBody>
      </p:sp>
      <p:cxnSp>
        <p:nvCxnSpPr>
          <p:cNvPr id="28" name="Connector 27"/>
          <p:cNvCxnSpPr>
            <a:cxnSpLocks/>
            <a:stCxn id="21" idx="3"/>
            <a:endCxn id="23" idx="1"/>
          </p:cNvCxnSpPr>
          <p:nvPr/>
        </p:nvCxnSpPr>
        <p:spPr>
          <a:xfrm flipV="1">
            <a:off x="6003036" y="2138316"/>
            <a:ext cx="489204" cy="1691640"/>
          </a:xfrm>
          <a:prstGeom prst="bentConnector3">
            <a:avLst>
              <a:gd name="adj1" fmla="val 50000"/>
            </a:avLst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  <a:stCxn id="21" idx="3"/>
            <a:endCxn id="25" idx="1"/>
          </p:cNvCxnSpPr>
          <p:nvPr/>
        </p:nvCxnSpPr>
        <p:spPr>
          <a:xfrm>
            <a:off x="6003036" y="3829956"/>
            <a:ext cx="489204" cy="0"/>
          </a:xfrm>
          <a:prstGeom prst="line">
            <a:avLst/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stCxn id="21" idx="3"/>
            <a:endCxn id="27" idx="1"/>
          </p:cNvCxnSpPr>
          <p:nvPr/>
        </p:nvCxnSpPr>
        <p:spPr>
          <a:xfrm>
            <a:off x="6003036" y="3829956"/>
            <a:ext cx="489204" cy="1691640"/>
          </a:xfrm>
          <a:prstGeom prst="bentConnector3">
            <a:avLst>
              <a:gd name="adj1" fmla="val 50000"/>
            </a:avLst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03920" y="893591"/>
            <a:ext cx="352044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3. Translational Discoveries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32520" y="1481328"/>
            <a:ext cx="3108960" cy="1298448"/>
          </a:xfrm>
          <a:prstGeom prst="roundRect">
            <a:avLst/>
          </a:prstGeom>
          <a:solidFill>
            <a:srgbClr val="E9F7E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>
                <a:solidFill>
                  <a:srgbClr val="145A32"/>
                </a:solidFill>
                <a:latin typeface="Calibri"/>
              </a:rPr>
              <a:t>Validated Mechanism</a:t>
            </a:r>
          </a:p>
          <a:p>
            <a:pPr algn="ctr"/>
            <a:r>
              <a:rPr sz="1100" b="0" i="0">
                <a:solidFill>
                  <a:srgbClr val="145A32"/>
                </a:solidFill>
                <a:latin typeface="Calibri"/>
              </a:rPr>
              <a:t>Dose → BDNF → Pain Relief</a:t>
            </a:r>
          </a:p>
          <a:p>
            <a:pPr algn="ctr"/>
            <a:r>
              <a:rPr sz="1100" b="0" i="1">
                <a:solidFill>
                  <a:srgbClr val="1E8449"/>
                </a:solidFill>
                <a:latin typeface="Calibri"/>
              </a:rPr>
              <a:t>p = 0.027 · Indirect Effect CI [0.15, 0.56]</a:t>
            </a:r>
          </a:p>
        </p:txBody>
      </p:sp>
      <p:cxnSp>
        <p:nvCxnSpPr>
          <p:cNvPr id="33" name="Connector 32"/>
          <p:cNvCxnSpPr>
            <a:cxnSpLocks/>
            <a:stCxn id="23" idx="3"/>
            <a:endCxn id="32" idx="1"/>
          </p:cNvCxnSpPr>
          <p:nvPr/>
        </p:nvCxnSpPr>
        <p:spPr>
          <a:xfrm flipV="1">
            <a:off x="8065008" y="2130552"/>
            <a:ext cx="667512" cy="7764"/>
          </a:xfrm>
          <a:prstGeom prst="line">
            <a:avLst/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732520" y="3172968"/>
            <a:ext cx="3108960" cy="1298448"/>
          </a:xfrm>
          <a:prstGeom prst="roundRect">
            <a:avLst/>
          </a:prstGeom>
          <a:solidFill>
            <a:srgbClr val="E9F7E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>
                <a:solidFill>
                  <a:srgbClr val="145A32"/>
                </a:solidFill>
                <a:latin typeface="Calibri"/>
              </a:rPr>
              <a:t>Apex Biomarkers</a:t>
            </a:r>
          </a:p>
          <a:p>
            <a:pPr algn="ctr"/>
            <a:r>
              <a:rPr sz="1100" b="0" i="0">
                <a:solidFill>
                  <a:srgbClr val="145A32"/>
                </a:solidFill>
                <a:latin typeface="Calibri"/>
              </a:rPr>
              <a:t>Nrf-2 &amp; IL-6</a:t>
            </a:r>
          </a:p>
          <a:p>
            <a:pPr algn="ctr"/>
            <a:r>
              <a:rPr sz="1100" b="0" i="1">
                <a:solidFill>
                  <a:srgbClr val="1E8449"/>
                </a:solidFill>
                <a:latin typeface="Calibri"/>
              </a:rPr>
              <a:t>VIP: 1.36 (Nrf-2) · 1.31 (IL-6)</a:t>
            </a:r>
          </a:p>
        </p:txBody>
      </p:sp>
      <p:cxnSp>
        <p:nvCxnSpPr>
          <p:cNvPr id="35" name="Connector 34"/>
          <p:cNvCxnSpPr>
            <a:cxnSpLocks/>
            <a:stCxn id="25" idx="3"/>
            <a:endCxn id="34" idx="1"/>
          </p:cNvCxnSpPr>
          <p:nvPr/>
        </p:nvCxnSpPr>
        <p:spPr>
          <a:xfrm flipV="1">
            <a:off x="8065008" y="3822192"/>
            <a:ext cx="667512" cy="7764"/>
          </a:xfrm>
          <a:prstGeom prst="line">
            <a:avLst/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732520" y="4864608"/>
            <a:ext cx="3108960" cy="1298448"/>
          </a:xfrm>
          <a:prstGeom prst="roundRect">
            <a:avLst/>
          </a:prstGeom>
          <a:solidFill>
            <a:srgbClr val="E9F7E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>
                <a:solidFill>
                  <a:srgbClr val="145A32"/>
                </a:solidFill>
                <a:latin typeface="Calibri"/>
              </a:rPr>
              <a:t>Phenotypic Reversion</a:t>
            </a:r>
          </a:p>
          <a:p>
            <a:pPr algn="ctr"/>
            <a:r>
              <a:rPr sz="1100" b="0" i="0">
                <a:solidFill>
                  <a:srgbClr val="145A32"/>
                </a:solidFill>
                <a:latin typeface="Calibri"/>
              </a:rPr>
              <a:t>Non-Opioid Target Confirmed</a:t>
            </a:r>
          </a:p>
          <a:p>
            <a:pPr algn="ctr"/>
            <a:r>
              <a:rPr sz="1100" b="0" i="1">
                <a:solidFill>
                  <a:srgbClr val="1E8449"/>
                </a:solidFill>
                <a:latin typeface="Calibri"/>
              </a:rPr>
              <a:t>Confirmed in 4- &amp; 12-week cohorts</a:t>
            </a:r>
          </a:p>
        </p:txBody>
      </p:sp>
      <p:cxnSp>
        <p:nvCxnSpPr>
          <p:cNvPr id="37" name="Connector 36"/>
          <p:cNvCxnSpPr>
            <a:cxnSpLocks/>
            <a:stCxn id="27" idx="3"/>
            <a:endCxn id="36" idx="1"/>
          </p:cNvCxnSpPr>
          <p:nvPr/>
        </p:nvCxnSpPr>
        <p:spPr>
          <a:xfrm flipV="1">
            <a:off x="8065008" y="5513832"/>
            <a:ext cx="667512" cy="7764"/>
          </a:xfrm>
          <a:prstGeom prst="line">
            <a:avLst/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9">
            <a:extLst>
              <a:ext uri="{FF2B5EF4-FFF2-40B4-BE49-F238E27FC236}">
                <a16:creationId xmlns:a16="http://schemas.microsoft.com/office/drawing/2014/main" id="{DB398397-D152-D185-69E5-9C872812170D}"/>
              </a:ext>
            </a:extLst>
          </p:cNvPr>
          <p:cNvCxnSpPr>
            <a:cxnSpLocks/>
            <a:stCxn id="9" idx="2"/>
            <a:endCxn id="13" idx="1"/>
          </p:cNvCxnSpPr>
          <p:nvPr/>
        </p:nvCxnSpPr>
        <p:spPr>
          <a:xfrm rot="16200000" flipH="1">
            <a:off x="2165446" y="2467198"/>
            <a:ext cx="391984" cy="836676"/>
          </a:xfrm>
          <a:prstGeom prst="bentConnector3">
            <a:avLst>
              <a:gd name="adj1" fmla="val 50000"/>
            </a:avLst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" y="694944"/>
            <a:ext cx="3246120" cy="594360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 w="12700">
            <a:solidFill>
              <a:srgbClr val="B9C0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1168" y="694944"/>
            <a:ext cx="3246120" cy="457200"/>
          </a:xfrm>
          <a:prstGeom prst="roundRect">
            <a:avLst>
              <a:gd name="adj" fmla="val 22000"/>
            </a:avLst>
          </a:prstGeom>
          <a:solidFill>
            <a:srgbClr val="2E75D9"/>
          </a:solidFill>
          <a:ln w="12700">
            <a:solidFill>
              <a:srgbClr val="2E7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FFFFFF"/>
                </a:solidFill>
                <a:latin typeface="Calibri"/>
              </a:rPr>
              <a:t>1.  In Vivo Model &amp;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3048" y="694944"/>
            <a:ext cx="4526280" cy="594360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 w="12700">
            <a:solidFill>
              <a:srgbClr val="B9C0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13048" y="694944"/>
            <a:ext cx="4526280" cy="457200"/>
          </a:xfrm>
          <a:prstGeom prst="roundRect">
            <a:avLst>
              <a:gd name="adj" fmla="val 22000"/>
            </a:avLst>
          </a:prstGeom>
          <a:solidFill>
            <a:srgbClr val="E2620D"/>
          </a:solidFill>
          <a:ln w="12700">
            <a:solidFill>
              <a:srgbClr val="E262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FFFFFF"/>
                </a:solidFill>
                <a:latin typeface="Calibri"/>
              </a:rPr>
              <a:t>2.  High-Dimensional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05088" y="694944"/>
            <a:ext cx="3291840" cy="594360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 w="12700">
            <a:solidFill>
              <a:srgbClr val="B9C0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05088" y="694944"/>
            <a:ext cx="3291840" cy="457200"/>
          </a:xfrm>
          <a:prstGeom prst="roundRect">
            <a:avLst>
              <a:gd name="adj" fmla="val 22000"/>
            </a:avLst>
          </a:prstGeom>
          <a:solidFill>
            <a:srgbClr val="2E7D4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 Translational Discoveries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088" y="1326453"/>
            <a:ext cx="2990087" cy="498094"/>
          </a:xfrm>
          <a:prstGeom prst="roundRect">
            <a:avLst>
              <a:gd name="adj" fmla="val 16000"/>
            </a:avLst>
          </a:prstGeom>
          <a:solidFill>
            <a:srgbClr val="DCE9FB"/>
          </a:solidFill>
          <a:ln w="15875">
            <a:solidFill>
              <a:srgbClr val="2E7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1B4F8F"/>
                </a:solidFill>
                <a:latin typeface="Calibri"/>
              </a:rPr>
              <a:t>Rodent Model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1B4F8F"/>
                </a:solidFill>
                <a:latin typeface="Calibri"/>
              </a:rPr>
              <a:t>(Smoking / Nicotine)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087" y="2087279"/>
            <a:ext cx="2990087" cy="552195"/>
          </a:xfrm>
          <a:prstGeom prst="roundRect">
            <a:avLst>
              <a:gd name="adj" fmla="val 16000"/>
            </a:avLst>
          </a:prstGeom>
          <a:solidFill>
            <a:srgbClr val="DCE9FB"/>
          </a:solidFill>
          <a:ln w="15875">
            <a:solidFill>
              <a:srgbClr val="2E7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1B4F8F"/>
                </a:solidFill>
                <a:latin typeface="Calibri"/>
              </a:rPr>
              <a:t>Mecamylamine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1B4F8F"/>
                </a:solidFill>
                <a:latin typeface="Calibri"/>
              </a:rPr>
              <a:t>Intervention</a:t>
            </a:r>
          </a:p>
        </p:txBody>
      </p:sp>
      <p:sp>
        <p:nvSpPr>
          <p:cNvPr id="17" name="Can 16"/>
          <p:cNvSpPr/>
          <p:nvPr/>
        </p:nvSpPr>
        <p:spPr>
          <a:xfrm>
            <a:off x="352043" y="3210179"/>
            <a:ext cx="1431035" cy="941832"/>
          </a:xfrm>
          <a:prstGeom prst="can">
            <a:avLst>
              <a:gd name="adj" fmla="val 21507"/>
            </a:avLst>
          </a:prstGeom>
          <a:solidFill>
            <a:srgbClr val="DCE9FB"/>
          </a:solidFill>
          <a:ln w="15875">
            <a:solidFill>
              <a:srgbClr val="2E7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1B4F8F"/>
                </a:solidFill>
                <a:latin typeface="Calibri"/>
              </a:rPr>
              <a:t>Behavioral Data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1B4F8F"/>
                </a:solidFill>
                <a:latin typeface="Calibri"/>
              </a:rPr>
              <a:t>N=100   (Pain Latency)</a:t>
            </a:r>
          </a:p>
        </p:txBody>
      </p:sp>
      <p:sp>
        <p:nvSpPr>
          <p:cNvPr id="18" name="Can 17"/>
          <p:cNvSpPr/>
          <p:nvPr/>
        </p:nvSpPr>
        <p:spPr>
          <a:xfrm>
            <a:off x="1899665" y="3210179"/>
            <a:ext cx="1431035" cy="941832"/>
          </a:xfrm>
          <a:prstGeom prst="can">
            <a:avLst>
              <a:gd name="adj" fmla="val 23530"/>
            </a:avLst>
          </a:prstGeom>
          <a:solidFill>
            <a:srgbClr val="DCE9FB"/>
          </a:solidFill>
          <a:ln w="15875">
            <a:solidFill>
              <a:srgbClr val="2E7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1B4F8F"/>
                </a:solidFill>
                <a:latin typeface="Calibri"/>
              </a:rPr>
              <a:t>Genetic IHC Data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1B4F8F"/>
                </a:solidFill>
                <a:latin typeface="Calibri"/>
              </a:rPr>
              <a:t>N=50   (Missing Cohorts)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" y="4924679"/>
            <a:ext cx="2990087" cy="702818"/>
          </a:xfrm>
          <a:prstGeom prst="roundRect">
            <a:avLst>
              <a:gd name="adj" fmla="val 10000"/>
            </a:avLst>
          </a:prstGeom>
          <a:solidFill>
            <a:srgbClr val="E7DDF6"/>
          </a:solidFill>
          <a:ln w="15875">
            <a:solidFill>
              <a:srgbClr val="7C3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 dirty="0">
                <a:solidFill>
                  <a:srgbClr val="5B2A8C"/>
                </a:solidFill>
                <a:latin typeface="Calibri"/>
              </a:rPr>
              <a:t>Bayesian-Optimized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dirty="0" err="1">
                <a:solidFill>
                  <a:srgbClr val="5B2A8C"/>
                </a:solidFill>
                <a:latin typeface="Calibri"/>
              </a:rPr>
              <a:t>ElasticNet</a:t>
            </a:r>
            <a:r>
              <a:rPr sz="1100" b="1" i="0" dirty="0">
                <a:solidFill>
                  <a:srgbClr val="5B2A8C"/>
                </a:solidFill>
                <a:latin typeface="Calibri"/>
              </a:rPr>
              <a:t> Imputation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707070"/>
                </a:solidFill>
                <a:latin typeface="Calibri"/>
              </a:rPr>
              <a:t>recovers the 5 missing IHC groups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41063" y="1261872"/>
            <a:ext cx="4270248" cy="1389888"/>
          </a:xfrm>
          <a:prstGeom prst="roundRect">
            <a:avLst>
              <a:gd name="adj" fmla="val 10000"/>
            </a:avLst>
          </a:prstGeom>
          <a:solidFill>
            <a:srgbClr val="FCF0D5"/>
          </a:solidFill>
          <a:ln w="15875">
            <a:solidFill>
              <a:srgbClr val="D9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dirty="0">
                <a:solidFill>
                  <a:srgbClr val="3D2B00"/>
                </a:solidFill>
                <a:latin typeface="Calibri"/>
              </a:rPr>
              <a:t>Canonical Correlation Analysis (CCA)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 dirty="0">
                <a:solidFill>
                  <a:srgbClr val="3D2B00"/>
                </a:solidFill>
                <a:latin typeface="Calibri"/>
              </a:rPr>
              <a:t>Extract latent molecular signal:  BDNF_SUP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707070"/>
                </a:solidFill>
                <a:latin typeface="Calibri"/>
              </a:rPr>
              <a:t>loadings   BDNF-Trk-β 0.93   ·   Trk-β 0.89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7252" y="2999233"/>
            <a:ext cx="3685032" cy="1060704"/>
          </a:xfrm>
          <a:prstGeom prst="roundRect">
            <a:avLst>
              <a:gd name="adj" fmla="val 14000"/>
            </a:avLst>
          </a:prstGeom>
          <a:solidFill>
            <a:srgbClr val="FBE3D2"/>
          </a:solidFill>
          <a:ln w="15875">
            <a:solidFill>
              <a:srgbClr val="E262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8A3A06"/>
                </a:solidFill>
                <a:latin typeface="Calibri"/>
              </a:rPr>
              <a:t>CAUSAL MODELING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262626"/>
                </a:solidFill>
                <a:latin typeface="Calibri"/>
              </a:rPr>
              <a:t>Linear Mixed-Effects (LMM) &amp; Bootstrap Mediation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707070"/>
                </a:solidFill>
                <a:latin typeface="Calibri"/>
              </a:rPr>
              <a:t>Dose → BDNF-Trk-β → Pain Relief  ·  ab = 0.346, 95% CI [0.15, 0.60]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7252" y="4224528"/>
            <a:ext cx="3685032" cy="1024128"/>
          </a:xfrm>
          <a:prstGeom prst="roundRect">
            <a:avLst>
              <a:gd name="adj" fmla="val 14000"/>
            </a:avLst>
          </a:prstGeom>
          <a:solidFill>
            <a:srgbClr val="FBE3D2"/>
          </a:solidFill>
          <a:ln w="15875">
            <a:solidFill>
              <a:srgbClr val="E262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8A3A06"/>
                </a:solidFill>
                <a:latin typeface="Calibri"/>
              </a:rPr>
              <a:t>PREDICTIVE DIAGNOSTICS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262626"/>
                </a:solidFill>
                <a:latin typeface="Calibri"/>
              </a:rPr>
              <a:t>PLS-DA &amp; Multi-Target RF-RFE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707070"/>
                </a:solidFill>
                <a:latin typeface="Calibri"/>
              </a:rPr>
              <a:t>Nrf-2 (VIP 1.36) · IL-6 (VIP 1.31) top-ranked biomarkers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9705" y="5431536"/>
            <a:ext cx="3685032" cy="1060704"/>
          </a:xfrm>
          <a:prstGeom prst="roundRect">
            <a:avLst>
              <a:gd name="adj" fmla="val 14000"/>
            </a:avLst>
          </a:prstGeom>
          <a:solidFill>
            <a:srgbClr val="FBE3D2"/>
          </a:solidFill>
          <a:ln w="15875">
            <a:solidFill>
              <a:srgbClr val="E262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8A3A06"/>
                </a:solidFill>
                <a:latin typeface="Calibri"/>
              </a:rPr>
              <a:t>PHENOTYPIC MAPPING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262626"/>
                </a:solidFill>
                <a:latin typeface="Calibri"/>
              </a:rPr>
              <a:t>Unsupervised Hierarchical Clustering (Ward's Method)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707070"/>
                </a:solidFill>
                <a:latin typeface="Calibri"/>
              </a:rPr>
              <a:t>pro-nociceptive vs. tolerance blocks  ·  phenotypic reversion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33104" y="1261872"/>
            <a:ext cx="3035808" cy="1389888"/>
          </a:xfrm>
          <a:prstGeom prst="roundRect">
            <a:avLst>
              <a:gd name="adj" fmla="val 12000"/>
            </a:avLst>
          </a:prstGeom>
          <a:solidFill>
            <a:srgbClr val="F2F8F4"/>
          </a:solidFill>
          <a:ln w="15875">
            <a:solidFill>
              <a:srgbClr val="2E7D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dirty="0">
                <a:solidFill>
                  <a:srgbClr val="2E7D4F"/>
                </a:solidFill>
                <a:latin typeface="Calibri"/>
              </a:rPr>
              <a:t>BOTTOM LINE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262626"/>
                </a:solidFill>
                <a:latin typeface="Calibri"/>
              </a:rPr>
              <a:t>Mecamylamine acts through a validated non-opioid pathway</a:t>
            </a:r>
            <a:r>
              <a:rPr lang="en-US" sz="1100" b="0" i="0" dirty="0">
                <a:solidFill>
                  <a:srgbClr val="262626"/>
                </a:solidFill>
                <a:latin typeface="Calibri"/>
              </a:rPr>
              <a:t>:</a:t>
            </a:r>
            <a:r>
              <a:rPr sz="1100" b="0" i="0" dirty="0">
                <a:solidFill>
                  <a:srgbClr val="262626"/>
                </a:solidFill>
                <a:latin typeface="Calibri"/>
              </a:rPr>
              <a:t> BDNF-Trk-β downregulation, redox restoration and a fully reversible withdrawal phenotype.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33104" y="2980944"/>
            <a:ext cx="3035808" cy="1060704"/>
          </a:xfrm>
          <a:prstGeom prst="roundRect">
            <a:avLst>
              <a:gd name="adj" fmla="val 14000"/>
            </a:avLst>
          </a:prstGeom>
          <a:solidFill>
            <a:srgbClr val="D7EBDE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1E5E3A"/>
                </a:solidFill>
                <a:latin typeface="Calibri"/>
              </a:rPr>
              <a:t>Validated Mechanism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262626"/>
                </a:solidFill>
                <a:latin typeface="Calibri"/>
              </a:rPr>
              <a:t>Dose → BDNF → Pain Relief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707070"/>
                </a:solidFill>
                <a:latin typeface="Calibri"/>
              </a:rPr>
              <a:t>BDNF_SUP significant mediator, p = 0.027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3104" y="4215384"/>
            <a:ext cx="3035808" cy="1033273"/>
          </a:xfrm>
          <a:prstGeom prst="roundRect">
            <a:avLst>
              <a:gd name="adj" fmla="val 14000"/>
            </a:avLst>
          </a:prstGeom>
          <a:solidFill>
            <a:srgbClr val="D7EBDE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1E5E3A"/>
                </a:solidFill>
                <a:latin typeface="Calibri"/>
              </a:rPr>
              <a:t>Apex Biomarkers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262626"/>
                </a:solidFill>
                <a:latin typeface="Calibri"/>
              </a:rPr>
              <a:t>Nrf-2  &amp;  IL-6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707070"/>
                </a:solidFill>
                <a:latin typeface="Calibri"/>
              </a:rPr>
              <a:t>cross-model consensus  ·  VIP &gt; behavior (0.70)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33104" y="5431536"/>
            <a:ext cx="3035808" cy="1060704"/>
          </a:xfrm>
          <a:prstGeom prst="roundRect">
            <a:avLst>
              <a:gd name="adj" fmla="val 14000"/>
            </a:avLst>
          </a:prstGeom>
          <a:solidFill>
            <a:srgbClr val="D7EBDE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1E5E3A"/>
                </a:solidFill>
                <a:latin typeface="Calibri"/>
              </a:rPr>
              <a:t>Phenotypic Reversion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262626"/>
                </a:solidFill>
                <a:latin typeface="Calibri"/>
              </a:rPr>
              <a:t>Non-Opioid Target Confirmed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707070"/>
                </a:solidFill>
                <a:latin typeface="Calibri"/>
              </a:rPr>
              <a:t>Group 10 nests with healthy Group 1</a:t>
            </a:r>
          </a:p>
        </p:txBody>
      </p:sp>
      <p:cxnSp>
        <p:nvCxnSpPr>
          <p:cNvPr id="29" name="Connector 28"/>
          <p:cNvCxnSpPr>
            <a:cxnSpLocks/>
            <a:stCxn id="15" idx="2"/>
            <a:endCxn id="16" idx="0"/>
          </p:cNvCxnSpPr>
          <p:nvPr/>
        </p:nvCxnSpPr>
        <p:spPr>
          <a:xfrm flipH="1">
            <a:off x="1818131" y="1824547"/>
            <a:ext cx="1" cy="262732"/>
          </a:xfrm>
          <a:prstGeom prst="line">
            <a:avLst/>
          </a:prstGeom>
          <a:ln w="19050">
            <a:solidFill>
              <a:srgbClr val="4045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  <a:stCxn id="19" idx="2"/>
            <a:endCxn id="47" idx="0"/>
          </p:cNvCxnSpPr>
          <p:nvPr/>
        </p:nvCxnSpPr>
        <p:spPr>
          <a:xfrm flipH="1">
            <a:off x="1818742" y="5627497"/>
            <a:ext cx="5486" cy="227964"/>
          </a:xfrm>
          <a:prstGeom prst="line">
            <a:avLst/>
          </a:prstGeom>
          <a:ln w="19050">
            <a:solidFill>
              <a:srgbClr val="4045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  <a:endCxn id="26" idx="1"/>
          </p:cNvCxnSpPr>
          <p:nvPr/>
        </p:nvCxnSpPr>
        <p:spPr>
          <a:xfrm>
            <a:off x="8222284" y="3511296"/>
            <a:ext cx="610820" cy="0"/>
          </a:xfrm>
          <a:prstGeom prst="line">
            <a:avLst/>
          </a:prstGeom>
          <a:ln w="19050">
            <a:solidFill>
              <a:srgbClr val="4045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01168" y="6675120"/>
            <a:ext cx="11795760" cy="164592"/>
          </a:xfrm>
          <a:prstGeom prst="rect">
            <a:avLst/>
          </a:prstGeom>
          <a:noFill/>
        </p:spPr>
        <p:txBody>
          <a:bodyPr wrap="square" lIns="0" tIns="27432" rIns="54864" bIns="2743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707070"/>
                </a:solidFill>
                <a:latin typeface="Calibri"/>
              </a:rPr>
              <a:t>Figure 1.  Study workflow: in vivo model and cohort harmonization → high-dimensional latent-signal extraction, causal and predictive modelling → translational discoveries.</a:t>
            </a:r>
          </a:p>
        </p:txBody>
      </p:sp>
      <p:sp>
        <p:nvSpPr>
          <p:cNvPr id="47" name="Rounded Rectangle 18">
            <a:extLst>
              <a:ext uri="{FF2B5EF4-FFF2-40B4-BE49-F238E27FC236}">
                <a16:creationId xmlns:a16="http://schemas.microsoft.com/office/drawing/2014/main" id="{063C8BE2-1A13-4DD6-1EF2-8A98BA8FDDBB}"/>
              </a:ext>
            </a:extLst>
          </p:cNvPr>
          <p:cNvSpPr/>
          <p:nvPr/>
        </p:nvSpPr>
        <p:spPr>
          <a:xfrm>
            <a:off x="323698" y="5855461"/>
            <a:ext cx="2990087" cy="576072"/>
          </a:xfrm>
          <a:prstGeom prst="roundRect">
            <a:avLst>
              <a:gd name="adj" fmla="val 10000"/>
            </a:avLst>
          </a:prstGeom>
          <a:solidFill>
            <a:srgbClr val="E7DDF6"/>
          </a:solidFill>
          <a:ln w="15875">
            <a:solidFill>
              <a:srgbClr val="7C3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100" b="1" i="0" dirty="0">
                <a:solidFill>
                  <a:srgbClr val="5B2A8C"/>
                </a:solidFill>
                <a:latin typeface="Calibri"/>
              </a:rPr>
              <a:t>Harmonized Dataset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707070"/>
                </a:solidFill>
                <a:latin typeface="Calibri"/>
              </a:rPr>
              <a:t>N </a:t>
            </a:r>
            <a:r>
              <a:rPr lang="en-US" sz="1100" dirty="0">
                <a:solidFill>
                  <a:srgbClr val="707070"/>
                </a:solidFill>
              </a:rPr>
              <a:t>= 100 behavioral + imputed genetic</a:t>
            </a:r>
            <a:endParaRPr lang="en-US" sz="1100" b="0" i="0" dirty="0">
              <a:solidFill>
                <a:srgbClr val="707070"/>
              </a:solidFill>
              <a:latin typeface="Calibri"/>
            </a:endParaRPr>
          </a:p>
        </p:txBody>
      </p:sp>
      <p:cxnSp>
        <p:nvCxnSpPr>
          <p:cNvPr id="59" name="Connector 13">
            <a:extLst>
              <a:ext uri="{FF2B5EF4-FFF2-40B4-BE49-F238E27FC236}">
                <a16:creationId xmlns:a16="http://schemas.microsoft.com/office/drawing/2014/main" id="{F36CEDA5-4350-27E4-D085-77193177557B}"/>
              </a:ext>
            </a:extLst>
          </p:cNvPr>
          <p:cNvCxnSpPr>
            <a:cxnSpLocks/>
            <a:stCxn id="18" idx="3"/>
            <a:endCxn id="19" idx="0"/>
          </p:cNvCxnSpPr>
          <p:nvPr/>
        </p:nvCxnSpPr>
        <p:spPr>
          <a:xfrm rot="5400000">
            <a:off x="1833372" y="4142868"/>
            <a:ext cx="772668" cy="790955"/>
          </a:xfrm>
          <a:prstGeom prst="bentConnector3">
            <a:avLst>
              <a:gd name="adj1" fmla="val 50000"/>
            </a:avLst>
          </a:prstGeom>
          <a:ln w="19050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13">
            <a:extLst>
              <a:ext uri="{FF2B5EF4-FFF2-40B4-BE49-F238E27FC236}">
                <a16:creationId xmlns:a16="http://schemas.microsoft.com/office/drawing/2014/main" id="{861BB561-0C12-976C-890F-DC8EBB86026C}"/>
              </a:ext>
            </a:extLst>
          </p:cNvPr>
          <p:cNvCxnSpPr>
            <a:cxnSpLocks/>
            <a:stCxn id="17" idx="3"/>
            <a:endCxn id="19" idx="0"/>
          </p:cNvCxnSpPr>
          <p:nvPr/>
        </p:nvCxnSpPr>
        <p:spPr>
          <a:xfrm rot="16200000" flipH="1">
            <a:off x="1059560" y="4160011"/>
            <a:ext cx="772668" cy="756667"/>
          </a:xfrm>
          <a:prstGeom prst="bentConnector3">
            <a:avLst>
              <a:gd name="adj1" fmla="val 50000"/>
            </a:avLst>
          </a:prstGeom>
          <a:ln w="19050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13">
            <a:extLst>
              <a:ext uri="{FF2B5EF4-FFF2-40B4-BE49-F238E27FC236}">
                <a16:creationId xmlns:a16="http://schemas.microsoft.com/office/drawing/2014/main" id="{B2E06572-035F-AB25-6942-41FCAF95952D}"/>
              </a:ext>
            </a:extLst>
          </p:cNvPr>
          <p:cNvCxnSpPr>
            <a:cxnSpLocks/>
            <a:stCxn id="16" idx="2"/>
            <a:endCxn id="17" idx="1"/>
          </p:cNvCxnSpPr>
          <p:nvPr/>
        </p:nvCxnSpPr>
        <p:spPr>
          <a:xfrm rot="5400000">
            <a:off x="1157494" y="2549541"/>
            <a:ext cx="570705" cy="750570"/>
          </a:xfrm>
          <a:prstGeom prst="bentConnector3">
            <a:avLst>
              <a:gd name="adj1" fmla="val 50000"/>
            </a:avLst>
          </a:prstGeom>
          <a:ln w="19050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13">
            <a:extLst>
              <a:ext uri="{FF2B5EF4-FFF2-40B4-BE49-F238E27FC236}">
                <a16:creationId xmlns:a16="http://schemas.microsoft.com/office/drawing/2014/main" id="{9F72CACC-22C6-046E-3DE3-E125B2A22546}"/>
              </a:ext>
            </a:extLst>
          </p:cNvPr>
          <p:cNvCxnSpPr>
            <a:cxnSpLocks/>
            <a:stCxn id="16" idx="2"/>
            <a:endCxn id="18" idx="1"/>
          </p:cNvCxnSpPr>
          <p:nvPr/>
        </p:nvCxnSpPr>
        <p:spPr>
          <a:xfrm rot="16200000" flipH="1">
            <a:off x="1931305" y="2526300"/>
            <a:ext cx="570705" cy="797052"/>
          </a:xfrm>
          <a:prstGeom prst="bentConnector3">
            <a:avLst>
              <a:gd name="adj1" fmla="val 50000"/>
            </a:avLst>
          </a:prstGeom>
          <a:ln w="19050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3">
            <a:extLst>
              <a:ext uri="{FF2B5EF4-FFF2-40B4-BE49-F238E27FC236}">
                <a16:creationId xmlns:a16="http://schemas.microsoft.com/office/drawing/2014/main" id="{69DD5DB8-E3B6-1535-2FED-EDE906391471}"/>
              </a:ext>
            </a:extLst>
          </p:cNvPr>
          <p:cNvCxnSpPr>
            <a:cxnSpLocks/>
            <a:stCxn id="47" idx="3"/>
            <a:endCxn id="21" idx="1"/>
          </p:cNvCxnSpPr>
          <p:nvPr/>
        </p:nvCxnSpPr>
        <p:spPr>
          <a:xfrm flipV="1">
            <a:off x="3313785" y="1956816"/>
            <a:ext cx="627278" cy="4186681"/>
          </a:xfrm>
          <a:prstGeom prst="bentConnector3">
            <a:avLst>
              <a:gd name="adj1" fmla="val 50000"/>
            </a:avLst>
          </a:prstGeom>
          <a:ln w="22225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38">
            <a:extLst>
              <a:ext uri="{FF2B5EF4-FFF2-40B4-BE49-F238E27FC236}">
                <a16:creationId xmlns:a16="http://schemas.microsoft.com/office/drawing/2014/main" id="{903B8F40-F89E-F38C-C818-B0660E8F632A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8222284" y="4732021"/>
            <a:ext cx="610820" cy="4571"/>
          </a:xfrm>
          <a:prstGeom prst="line">
            <a:avLst/>
          </a:prstGeom>
          <a:ln w="19050">
            <a:solidFill>
              <a:srgbClr val="4045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38">
            <a:extLst>
              <a:ext uri="{FF2B5EF4-FFF2-40B4-BE49-F238E27FC236}">
                <a16:creationId xmlns:a16="http://schemas.microsoft.com/office/drawing/2014/main" id="{15AD05FB-DBCB-4C97-84E7-6378FDAD469B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>
            <a:off x="8174737" y="5961888"/>
            <a:ext cx="658367" cy="0"/>
          </a:xfrm>
          <a:prstGeom prst="line">
            <a:avLst/>
          </a:prstGeom>
          <a:ln w="19050">
            <a:solidFill>
              <a:srgbClr val="4045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">
            <a:extLst>
              <a:ext uri="{FF2B5EF4-FFF2-40B4-BE49-F238E27FC236}">
                <a16:creationId xmlns:a16="http://schemas.microsoft.com/office/drawing/2014/main" id="{1EDFCE23-F182-E55E-87BE-F9CB9C0A71E7}"/>
              </a:ext>
            </a:extLst>
          </p:cNvPr>
          <p:cNvCxnSpPr>
            <a:cxnSpLocks/>
            <a:stCxn id="21" idx="2"/>
            <a:endCxn id="22" idx="1"/>
          </p:cNvCxnSpPr>
          <p:nvPr/>
        </p:nvCxnSpPr>
        <p:spPr>
          <a:xfrm rot="5400000">
            <a:off x="4867808" y="2321205"/>
            <a:ext cx="877825" cy="1538935"/>
          </a:xfrm>
          <a:prstGeom prst="bentConnector4">
            <a:avLst>
              <a:gd name="adj1" fmla="val 19792"/>
              <a:gd name="adj2" fmla="val 117639"/>
            </a:avLst>
          </a:prstGeom>
          <a:ln w="19050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">
            <a:extLst>
              <a:ext uri="{FF2B5EF4-FFF2-40B4-BE49-F238E27FC236}">
                <a16:creationId xmlns:a16="http://schemas.microsoft.com/office/drawing/2014/main" id="{DCF77BE9-832E-D1CA-9313-1F776DD3CE44}"/>
              </a:ext>
            </a:extLst>
          </p:cNvPr>
          <p:cNvCxnSpPr>
            <a:cxnSpLocks/>
            <a:endCxn id="23" idx="1"/>
          </p:cNvCxnSpPr>
          <p:nvPr/>
        </p:nvCxnSpPr>
        <p:spPr>
          <a:xfrm rot="5400000">
            <a:off x="4264305" y="2924709"/>
            <a:ext cx="2084830" cy="1538936"/>
          </a:xfrm>
          <a:prstGeom prst="bentConnector4">
            <a:avLst>
              <a:gd name="adj1" fmla="val 8479"/>
              <a:gd name="adj2" fmla="val 117742"/>
            </a:avLst>
          </a:prstGeom>
          <a:ln w="19050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">
            <a:extLst>
              <a:ext uri="{FF2B5EF4-FFF2-40B4-BE49-F238E27FC236}">
                <a16:creationId xmlns:a16="http://schemas.microsoft.com/office/drawing/2014/main" id="{D1248E2B-B7C1-97AB-0500-1DAFE5211967}"/>
              </a:ext>
            </a:extLst>
          </p:cNvPr>
          <p:cNvCxnSpPr>
            <a:cxnSpLocks/>
            <a:stCxn id="21" idx="2"/>
            <a:endCxn id="24" idx="1"/>
          </p:cNvCxnSpPr>
          <p:nvPr/>
        </p:nvCxnSpPr>
        <p:spPr>
          <a:xfrm rot="5400000">
            <a:off x="3627882" y="3513583"/>
            <a:ext cx="3310128" cy="1586482"/>
          </a:xfrm>
          <a:prstGeom prst="bentConnector4">
            <a:avLst>
              <a:gd name="adj1" fmla="val 5348"/>
              <a:gd name="adj2" fmla="val 114409"/>
            </a:avLst>
          </a:prstGeom>
          <a:ln w="19050">
            <a:solidFill>
              <a:srgbClr val="4249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0439A0AE-C140-25FA-D293-462C7DDFC95C}"/>
              </a:ext>
            </a:extLst>
          </p:cNvPr>
          <p:cNvSpPr txBox="1"/>
          <p:nvPr/>
        </p:nvSpPr>
        <p:spPr>
          <a:xfrm>
            <a:off x="182880" y="207122"/>
            <a:ext cx="11823192" cy="344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1" i="0" dirty="0">
                <a:solidFill>
                  <a:srgbClr val="154360"/>
                </a:solidFill>
                <a:latin typeface="Calibri"/>
              </a:rPr>
              <a:t>Nicotine Withdrawal–Induced Hyperalgesia: A Three-Stage Computational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Multi-Target RF–RFE: Biomarker Importance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4552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  <a:latin typeface="Arial"/>
              </a:rPr>
              <a:t>Multi-target Random Forest with recursive feature elimination  ·  leave-one-group-out CV  ·  N = 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59" y="1024128"/>
            <a:ext cx="201168" cy="20116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73167" y="987552"/>
            <a:ext cx="2670048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Arial"/>
              </a:rPr>
              <a:t>Molecular biomarker (cortical)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88936" y="1024128"/>
            <a:ext cx="201168" cy="20116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81544" y="987552"/>
            <a:ext cx="2148839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Arial"/>
              </a:rPr>
              <a:t>Behavioral / physiological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976104" y="1024128"/>
            <a:ext cx="201168" cy="20116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68712" y="987552"/>
            <a:ext cx="1755648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Arial"/>
              </a:rPr>
              <a:t>Experimental 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750040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750040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75719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430691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30691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56371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11342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11342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37022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1994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91994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17674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72645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72645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98325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53297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53297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878977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33948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33948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559628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14600" y="1371600"/>
            <a:ext cx="0" cy="3680459"/>
          </a:xfrm>
          <a:prstGeom prst="line">
            <a:avLst/>
          </a:prstGeom>
          <a:ln w="15875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14600" y="5052059"/>
            <a:ext cx="9235440" cy="0"/>
          </a:xfrm>
          <a:prstGeom prst="line">
            <a:avLst/>
          </a:prstGeom>
          <a:ln w="15875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" y="1371600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595959"/>
                </a:solidFill>
                <a:latin typeface="Arial"/>
              </a:rPr>
              <a:t>#1</a:t>
            </a:r>
            <a:r>
              <a:rPr sz="1500" b="1" i="0">
                <a:solidFill>
                  <a:srgbClr val="1A1A1A"/>
                </a:solidFill>
                <a:latin typeface="Arial"/>
              </a:rPr>
              <a:t>  Nrf-2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1469898"/>
            <a:ext cx="9235440" cy="32918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1897380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595959"/>
                </a:solidFill>
                <a:latin typeface="Arial"/>
              </a:rPr>
              <a:t>#2</a:t>
            </a:r>
            <a:r>
              <a:rPr sz="1500" b="1" i="0">
                <a:solidFill>
                  <a:srgbClr val="1A1A1A"/>
                </a:solidFill>
                <a:latin typeface="Arial"/>
              </a:rPr>
              <a:t>  body_wt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1995678"/>
            <a:ext cx="7916091" cy="32918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2423160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595959"/>
                </a:solidFill>
                <a:latin typeface="Arial"/>
              </a:rPr>
              <a:t>#3</a:t>
            </a:r>
            <a:r>
              <a:rPr sz="1500" b="1" i="0">
                <a:solidFill>
                  <a:srgbClr val="1A1A1A"/>
                </a:solidFill>
                <a:latin typeface="Arial"/>
              </a:rPr>
              <a:t>  hypalg_bfr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2521458"/>
            <a:ext cx="6596742" cy="32918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2948939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595959"/>
                </a:solidFill>
                <a:latin typeface="Arial"/>
              </a:rPr>
              <a:t>#4</a:t>
            </a:r>
            <a:r>
              <a:rPr sz="1500" b="1" i="0">
                <a:solidFill>
                  <a:srgbClr val="1A1A1A"/>
                </a:solidFill>
                <a:latin typeface="Arial"/>
              </a:rPr>
              <a:t>  iNOS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3047237"/>
            <a:ext cx="5277394" cy="32918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3474720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595959"/>
                </a:solidFill>
                <a:latin typeface="Arial"/>
              </a:rPr>
              <a:t>#5</a:t>
            </a:r>
            <a:r>
              <a:rPr sz="1500" b="1" i="0">
                <a:solidFill>
                  <a:srgbClr val="1A1A1A"/>
                </a:solidFill>
                <a:latin typeface="Arial"/>
              </a:rPr>
              <a:t>  IL-6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573018"/>
            <a:ext cx="3958045" cy="32918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4000500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595959"/>
                </a:solidFill>
                <a:latin typeface="Arial"/>
              </a:rPr>
              <a:t>#6</a:t>
            </a:r>
            <a:r>
              <a:rPr sz="1500" b="1" i="0">
                <a:solidFill>
                  <a:srgbClr val="1A1A1A"/>
                </a:solidFill>
                <a:latin typeface="Arial"/>
              </a:rPr>
              <a:t>  dose_mg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4098798"/>
            <a:ext cx="2638697" cy="32918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4320" y="4526279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595959"/>
                </a:solidFill>
                <a:latin typeface="Arial"/>
              </a:rPr>
              <a:t>#7</a:t>
            </a:r>
            <a:r>
              <a:rPr sz="1500" b="1" i="0">
                <a:solidFill>
                  <a:srgbClr val="1A1A1A"/>
                </a:solidFill>
                <a:latin typeface="Arial"/>
              </a:rPr>
              <a:t>  study_duration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4624577"/>
            <a:ext cx="1319348" cy="32918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14600" y="5422392"/>
            <a:ext cx="923544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Importance rank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95005" y="5440678"/>
            <a:ext cx="29260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>
                <a:solidFill>
                  <a:srgbClr val="595959"/>
                </a:solidFill>
                <a:latin typeface="Arial"/>
              </a:rPr>
              <a:t>← less predictive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5672" y="5484112"/>
            <a:ext cx="29260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1" dirty="0">
                <a:solidFill>
                  <a:srgbClr val="595959"/>
                </a:solidFill>
                <a:latin typeface="Arial"/>
              </a:rPr>
              <a:t>more predictive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089904"/>
            <a:ext cx="11274552" cy="7315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rial"/>
              </a:rPr>
              <a:t>Figure 4 | </a:t>
            </a:r>
            <a:r>
              <a:rPr sz="1050" b="0" i="0">
                <a:solidFill>
                  <a:srgbClr val="404040"/>
                </a:solidFill>
                <a:latin typeface="Arial"/>
              </a:rPr>
              <a:t>Predictor importance ranking from multi-target Random Forest recursive feature elimination (RF–RFE; leave-one-group-out cross-validation, N = 100). Bar length encodes inverted rank so that longer bars indicate greater predictive importance; axis ticks report the corresponding rank (1 = most predictive). The oxidative-stress marker Nrf-2 ranked first, concordant with PLS-DA (VIP = 1.36). Hue denotes predictor class (Okabe–Ito colour-blind-safe palette).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Alternative Encoding: Rank Dot Plot (Position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4552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  <a:latin typeface="Arial"/>
              </a:rPr>
              <a:t>Same data · Cleveland dot plot expresses rank by position alone, with no area/ratio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59" y="1024128"/>
            <a:ext cx="201168" cy="20116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73167" y="987552"/>
            <a:ext cx="2670048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Arial"/>
              </a:rPr>
              <a:t>Molecular biomarker (cortical)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88936" y="1024128"/>
            <a:ext cx="201168" cy="20116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81544" y="987552"/>
            <a:ext cx="2148839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Arial"/>
              </a:rPr>
              <a:t>Behavioral / physiological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976104" y="1024128"/>
            <a:ext cx="201168" cy="20116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68712" y="987552"/>
            <a:ext cx="1755648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Arial"/>
              </a:rPr>
              <a:t>Experimental 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26080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51760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28160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28160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53840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30240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30240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55920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0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32320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0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34399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34399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60079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36480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36480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662160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38559" y="1371600"/>
            <a:ext cx="0" cy="3680459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338559" y="5052059"/>
            <a:ext cx="0" cy="82296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064239" y="5161788"/>
            <a:ext cx="548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Arial"/>
              </a:rPr>
              <a:t>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14600" y="1371600"/>
            <a:ext cx="0" cy="3680459"/>
          </a:xfrm>
          <a:prstGeom prst="line">
            <a:avLst/>
          </a:prstGeom>
          <a:ln w="15875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14600" y="5052059"/>
            <a:ext cx="9235440" cy="0"/>
          </a:xfrm>
          <a:prstGeom prst="line">
            <a:avLst/>
          </a:prstGeom>
          <a:ln w="15875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" y="1371600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Arial"/>
              </a:rPr>
              <a:t>Nrf-2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14600" y="1634490"/>
            <a:ext cx="411480" cy="0"/>
          </a:xfrm>
          <a:prstGeom prst="line">
            <a:avLst/>
          </a:prstGeom>
          <a:ln w="1587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2788920" y="1497330"/>
            <a:ext cx="274320" cy="274320"/>
          </a:xfrm>
          <a:prstGeom prst="ellipse">
            <a:avLst/>
          </a:prstGeom>
          <a:solidFill>
            <a:srgbClr val="0072B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1897380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Arial"/>
              </a:rPr>
              <a:t>body_wt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514600" y="2160270"/>
            <a:ext cx="1813560" cy="0"/>
          </a:xfrm>
          <a:prstGeom prst="line">
            <a:avLst/>
          </a:prstGeom>
          <a:ln w="1587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190999" y="2023110"/>
            <a:ext cx="274320" cy="274320"/>
          </a:xfrm>
          <a:prstGeom prst="ellipse">
            <a:avLst/>
          </a:prstGeom>
          <a:solidFill>
            <a:srgbClr val="E69F0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2423160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Arial"/>
              </a:rPr>
              <a:t>hypalg_bfr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14600" y="2686050"/>
            <a:ext cx="3215640" cy="0"/>
          </a:xfrm>
          <a:prstGeom prst="line">
            <a:avLst/>
          </a:prstGeom>
          <a:ln w="1587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593080" y="2548890"/>
            <a:ext cx="274320" cy="274320"/>
          </a:xfrm>
          <a:prstGeom prst="ellipse">
            <a:avLst/>
          </a:prstGeom>
          <a:solidFill>
            <a:srgbClr val="E69F0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2948939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Arial"/>
              </a:rPr>
              <a:t>iNOS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514600" y="3211829"/>
            <a:ext cx="4617720" cy="0"/>
          </a:xfrm>
          <a:prstGeom prst="line">
            <a:avLst/>
          </a:prstGeom>
          <a:ln w="1587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995159" y="3074670"/>
            <a:ext cx="274320" cy="274320"/>
          </a:xfrm>
          <a:prstGeom prst="ellipse">
            <a:avLst/>
          </a:prstGeom>
          <a:solidFill>
            <a:srgbClr val="0072B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4320" y="3474720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Arial"/>
              </a:rPr>
              <a:t>IL-6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14600" y="3737609"/>
            <a:ext cx="6019799" cy="0"/>
          </a:xfrm>
          <a:prstGeom prst="line">
            <a:avLst/>
          </a:prstGeom>
          <a:ln w="1587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397239" y="3600449"/>
            <a:ext cx="274320" cy="274320"/>
          </a:xfrm>
          <a:prstGeom prst="ellipse">
            <a:avLst/>
          </a:prstGeom>
          <a:solidFill>
            <a:srgbClr val="0072B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4000500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Arial"/>
              </a:rPr>
              <a:t>dose_mg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514600" y="4263390"/>
            <a:ext cx="7421880" cy="0"/>
          </a:xfrm>
          <a:prstGeom prst="line">
            <a:avLst/>
          </a:prstGeom>
          <a:ln w="1587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799320" y="4126229"/>
            <a:ext cx="274320" cy="274320"/>
          </a:xfrm>
          <a:prstGeom prst="ellipse">
            <a:avLst/>
          </a:prstGeom>
          <a:solidFill>
            <a:srgbClr val="8C8C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4320" y="4526279"/>
            <a:ext cx="2130552" cy="5257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Arial"/>
              </a:rPr>
              <a:t>study_duration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14600" y="4789169"/>
            <a:ext cx="8823959" cy="0"/>
          </a:xfrm>
          <a:prstGeom prst="line">
            <a:avLst/>
          </a:prstGeom>
          <a:ln w="1587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1201399" y="4652009"/>
            <a:ext cx="274320" cy="274320"/>
          </a:xfrm>
          <a:prstGeom prst="ellipse">
            <a:avLst/>
          </a:prstGeom>
          <a:solidFill>
            <a:srgbClr val="8C8C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514600" y="5422392"/>
            <a:ext cx="923544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Importance rank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089904"/>
            <a:ext cx="11274552" cy="7315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rial"/>
              </a:rPr>
              <a:t>Note | </a:t>
            </a:r>
            <a:r>
              <a:rPr sz="1050" b="0" i="0">
                <a:solidFill>
                  <a:srgbClr val="404040"/>
                </a:solidFill>
                <a:latin typeface="Arial"/>
              </a:rPr>
              <a:t>Position-only (dot plot) encoding is the statistically conservative choice for ordinal rank data: it makes no implied ratio-scale statement about differences between adjacent ranks. Prefer this variant if reviewers consider bar areas misleading; prefer Slide 1 for immediate visual impact. Hue denotes predictor class (Okabe–Ito colour-blind-safe palette).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8B1DA9-C08C-4811-FE68-5C2EBDE8C889}"/>
              </a:ext>
            </a:extLst>
          </p:cNvPr>
          <p:cNvSpPr txBox="1"/>
          <p:nvPr/>
        </p:nvSpPr>
        <p:spPr>
          <a:xfrm>
            <a:off x="2495005" y="5440678"/>
            <a:ext cx="29260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>
                <a:solidFill>
                  <a:srgbClr val="595959"/>
                </a:solidFill>
                <a:latin typeface="Arial"/>
              </a:rPr>
              <a:t>← less predictive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C4B3EA-32DE-494F-4E11-B7CFE99D6117}"/>
              </a:ext>
            </a:extLst>
          </p:cNvPr>
          <p:cNvSpPr txBox="1"/>
          <p:nvPr/>
        </p:nvSpPr>
        <p:spPr>
          <a:xfrm>
            <a:off x="8805672" y="5484112"/>
            <a:ext cx="29260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1" dirty="0">
                <a:solidFill>
                  <a:srgbClr val="595959"/>
                </a:solidFill>
                <a:latin typeface="Arial"/>
              </a:rPr>
              <a:t>more predictive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descr="Proposed BDNF-related mediation in nicotine withdrawal"/>
          <p:cNvSpPr txBox="1"/>
          <p:nvPr/>
        </p:nvSpPr>
        <p:spPr>
          <a:xfrm>
            <a:off x="429768" y="182880"/>
            <a:ext cx="11338560" cy="3657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0" b="1" i="0">
                <a:solidFill>
                  <a:srgbClr val="17365D"/>
                </a:solidFill>
                <a:latin typeface="Arial"/>
              </a:rPr>
              <a:t>Proposed BDNF-related mediation in nicotine withdrawal</a:t>
            </a:r>
          </a:p>
        </p:txBody>
      </p:sp>
      <p:sp>
        <p:nvSpPr>
          <p:cNvPr id="3" name="Slide subtitle" descr="Reported pathway associations and bootstrap indirect-effect estimates"/>
          <p:cNvSpPr txBox="1"/>
          <p:nvPr/>
        </p:nvSpPr>
        <p:spPr>
          <a:xfrm>
            <a:off x="448056" y="594360"/>
            <a:ext cx="11292840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586A79"/>
                </a:solidFill>
                <a:latin typeface="Arial"/>
              </a:rPr>
              <a:t>Reported pathway associations and bootstrap indirect-effect estimates</a:t>
            </a:r>
          </a:p>
        </p:txBody>
      </p:sp>
      <p:sp>
        <p:nvSpPr>
          <p:cNvPr id="4" name="Panel A letter" descr="A"/>
          <p:cNvSpPr txBox="1"/>
          <p:nvPr/>
        </p:nvSpPr>
        <p:spPr>
          <a:xfrm>
            <a:off x="429768" y="905256"/>
            <a:ext cx="210312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65D"/>
                </a:solidFill>
                <a:latin typeface="Arial"/>
              </a:rPr>
              <a:t>A</a:t>
            </a:r>
          </a:p>
        </p:txBody>
      </p:sp>
      <p:sp>
        <p:nvSpPr>
          <p:cNvPr id="5" name="Panel A heading" descr="Proposed mediation model"/>
          <p:cNvSpPr txBox="1"/>
          <p:nvPr/>
        </p:nvSpPr>
        <p:spPr>
          <a:xfrm>
            <a:off x="704088" y="905256"/>
            <a:ext cx="7315200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365D"/>
                </a:solidFill>
                <a:latin typeface="Arial"/>
              </a:rPr>
              <a:t>Proposed mediation model</a:t>
            </a:r>
          </a:p>
        </p:txBody>
      </p:sp>
      <p:grpSp>
        <p:nvGrpSpPr>
          <p:cNvPr id="12" name="X — Mecamylamine dose" descr="X — Mecamylamine dose"/>
          <p:cNvGrpSpPr/>
          <p:nvPr/>
        </p:nvGrpSpPr>
        <p:grpSpPr>
          <a:xfrm>
            <a:off x="429768" y="1197864"/>
            <a:ext cx="2834640" cy="1161288"/>
            <a:chOff x="429768" y="1197864"/>
            <a:chExt cx="2834640" cy="1161288"/>
          </a:xfrm>
        </p:grpSpPr>
        <p:sp>
          <p:nvSpPr>
            <p:cNvPr id="6" name="X node frame" descr="X node frame"/>
            <p:cNvSpPr/>
            <p:nvPr/>
          </p:nvSpPr>
          <p:spPr>
            <a:xfrm>
              <a:off x="429768" y="1197864"/>
              <a:ext cx="2834640" cy="1161288"/>
            </a:xfrm>
            <a:prstGeom prst="roundRect">
              <a:avLst>
                <a:gd name="adj" fmla="val 5500"/>
              </a:avLst>
            </a:prstGeom>
            <a:solidFill>
              <a:srgbClr val="E5EFFC"/>
            </a:solidFill>
            <a:ln w="15875">
              <a:solidFill>
                <a:srgbClr val="2E75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X colored header" descr="X colored header"/>
            <p:cNvSpPr/>
            <p:nvPr/>
          </p:nvSpPr>
          <p:spPr>
            <a:xfrm>
              <a:off x="429768" y="1197864"/>
              <a:ext cx="2834640" cy="310896"/>
            </a:xfrm>
            <a:prstGeom prst="roundRect">
              <a:avLst>
                <a:gd name="adj" fmla="val 21000"/>
              </a:avLst>
            </a:prstGeom>
            <a:solidFill>
              <a:srgbClr val="2E75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X header lower edge" descr="X header lower edge"/>
            <p:cNvSpPr/>
            <p:nvPr/>
          </p:nvSpPr>
          <p:spPr>
            <a:xfrm>
              <a:off x="429768" y="1353312"/>
              <a:ext cx="2834640" cy="155448"/>
            </a:xfrm>
            <a:prstGeom prst="rect">
              <a:avLst/>
            </a:prstGeom>
            <a:solidFill>
              <a:srgbClr val="2E75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X role" descr="X  TREATMENT"/>
            <p:cNvSpPr txBox="1"/>
            <p:nvPr/>
          </p:nvSpPr>
          <p:spPr>
            <a:xfrm>
              <a:off x="521207" y="1229868"/>
              <a:ext cx="2651760" cy="237744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FFFFFF"/>
                  </a:solidFill>
                  <a:latin typeface="Arial"/>
                </a:rPr>
                <a:t>X  TREATMENT</a:t>
              </a:r>
            </a:p>
          </p:txBody>
        </p:sp>
        <p:sp>
          <p:nvSpPr>
            <p:cNvPr id="10" name="X name" descr="Mecamylamine dose"/>
            <p:cNvSpPr txBox="1"/>
            <p:nvPr/>
          </p:nvSpPr>
          <p:spPr>
            <a:xfrm>
              <a:off x="576072" y="1664208"/>
              <a:ext cx="2542032" cy="29260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7365D"/>
                  </a:solidFill>
                  <a:latin typeface="Arial"/>
                </a:rPr>
                <a:t>Mecamylamine dose</a:t>
              </a:r>
            </a:p>
          </p:txBody>
        </p:sp>
        <p:sp>
          <p:nvSpPr>
            <p:cNvPr id="11" name="X definition" descr="nAChR antagonist"/>
            <p:cNvSpPr txBox="1"/>
            <p:nvPr/>
          </p:nvSpPr>
          <p:spPr>
            <a:xfrm>
              <a:off x="566928" y="2066543"/>
              <a:ext cx="2560320" cy="210312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0" b="0" i="0">
                  <a:solidFill>
                    <a:srgbClr val="203346"/>
                  </a:solidFill>
                  <a:latin typeface="Arial"/>
                </a:rPr>
                <a:t>nAChR antagonist</a:t>
              </a:r>
            </a:p>
          </p:txBody>
        </p:sp>
      </p:grpSp>
      <p:grpSp>
        <p:nvGrpSpPr>
          <p:cNvPr id="19" name="M — BDNF_SUP" descr="M — BDNF_SUP"/>
          <p:cNvGrpSpPr/>
          <p:nvPr/>
        </p:nvGrpSpPr>
        <p:grpSpPr>
          <a:xfrm>
            <a:off x="4678680" y="1197864"/>
            <a:ext cx="2834640" cy="1161288"/>
            <a:chOff x="4678680" y="1197864"/>
            <a:chExt cx="2834640" cy="1161288"/>
          </a:xfrm>
        </p:grpSpPr>
        <p:sp>
          <p:nvSpPr>
            <p:cNvPr id="13" name="M node frame" descr="M node frame"/>
            <p:cNvSpPr/>
            <p:nvPr/>
          </p:nvSpPr>
          <p:spPr>
            <a:xfrm>
              <a:off x="4678680" y="1197864"/>
              <a:ext cx="2834640" cy="1161288"/>
            </a:xfrm>
            <a:prstGeom prst="roundRect">
              <a:avLst>
                <a:gd name="adj" fmla="val 5500"/>
              </a:avLst>
            </a:prstGeom>
            <a:solidFill>
              <a:srgbClr val="FCE6D5"/>
            </a:solidFill>
            <a:ln w="15875">
              <a:solidFill>
                <a:srgbClr val="E262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M colored header" descr="M colored header"/>
            <p:cNvSpPr/>
            <p:nvPr/>
          </p:nvSpPr>
          <p:spPr>
            <a:xfrm>
              <a:off x="4678680" y="1197864"/>
              <a:ext cx="2834640" cy="310896"/>
            </a:xfrm>
            <a:prstGeom prst="roundRect">
              <a:avLst>
                <a:gd name="adj" fmla="val 21000"/>
              </a:avLst>
            </a:prstGeom>
            <a:solidFill>
              <a:srgbClr val="E2620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M header lower edge" descr="M header lower edge"/>
            <p:cNvSpPr/>
            <p:nvPr/>
          </p:nvSpPr>
          <p:spPr>
            <a:xfrm>
              <a:off x="4678680" y="1353312"/>
              <a:ext cx="2834640" cy="155448"/>
            </a:xfrm>
            <a:prstGeom prst="rect">
              <a:avLst/>
            </a:prstGeom>
            <a:solidFill>
              <a:srgbClr val="E2620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M role" descr="M  CANDIDATE MEDIATOR"/>
            <p:cNvSpPr txBox="1"/>
            <p:nvPr/>
          </p:nvSpPr>
          <p:spPr>
            <a:xfrm>
              <a:off x="4770120" y="1229868"/>
              <a:ext cx="2651760" cy="237744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FFFFFF"/>
                  </a:solidFill>
                  <a:latin typeface="Arial"/>
                </a:rPr>
                <a:t>M  CANDIDATE MEDIATOR</a:t>
              </a:r>
            </a:p>
          </p:txBody>
        </p:sp>
        <p:sp>
          <p:nvSpPr>
            <p:cNvPr id="17" name="M name" descr="BDNF_SUP"/>
            <p:cNvSpPr txBox="1"/>
            <p:nvPr/>
          </p:nvSpPr>
          <p:spPr>
            <a:xfrm>
              <a:off x="4824984" y="1664208"/>
              <a:ext cx="2542032" cy="29260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7365D"/>
                  </a:solidFill>
                  <a:latin typeface="Arial"/>
                </a:rPr>
                <a:t>BDNF_SUP</a:t>
              </a:r>
            </a:p>
          </p:txBody>
        </p:sp>
        <p:sp>
          <p:nvSpPr>
            <p:cNvPr id="18" name="M definition" descr="CCA-derived cortical latent score"/>
            <p:cNvSpPr txBox="1"/>
            <p:nvPr/>
          </p:nvSpPr>
          <p:spPr>
            <a:xfrm>
              <a:off x="4815840" y="2066543"/>
              <a:ext cx="2560320" cy="210312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0" b="0" i="0">
                  <a:solidFill>
                    <a:srgbClr val="203346"/>
                  </a:solidFill>
                  <a:latin typeface="Arial"/>
                </a:rPr>
                <a:t>CCA-derived cortical latent score</a:t>
              </a:r>
            </a:p>
          </p:txBody>
        </p:sp>
      </p:grpSp>
      <p:grpSp>
        <p:nvGrpSpPr>
          <p:cNvPr id="26" name="Y — Pain latency" descr="Y — Pain latency"/>
          <p:cNvGrpSpPr/>
          <p:nvPr/>
        </p:nvGrpSpPr>
        <p:grpSpPr>
          <a:xfrm>
            <a:off x="8927591" y="1197864"/>
            <a:ext cx="2834640" cy="1161288"/>
            <a:chOff x="8927591" y="1197864"/>
            <a:chExt cx="2834640" cy="1161288"/>
          </a:xfrm>
        </p:grpSpPr>
        <p:sp>
          <p:nvSpPr>
            <p:cNvPr id="20" name="Y node frame" descr="Y node frame"/>
            <p:cNvSpPr/>
            <p:nvPr/>
          </p:nvSpPr>
          <p:spPr>
            <a:xfrm>
              <a:off x="8927591" y="1197864"/>
              <a:ext cx="2834640" cy="1161288"/>
            </a:xfrm>
            <a:prstGeom prst="roundRect">
              <a:avLst>
                <a:gd name="adj" fmla="val 5500"/>
              </a:avLst>
            </a:prstGeom>
            <a:solidFill>
              <a:srgbClr val="E3F0E8"/>
            </a:solidFill>
            <a:ln w="15875">
              <a:solidFill>
                <a:srgbClr val="2E7D4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Y colored header" descr="Y colored header"/>
            <p:cNvSpPr/>
            <p:nvPr/>
          </p:nvSpPr>
          <p:spPr>
            <a:xfrm>
              <a:off x="8927591" y="1197864"/>
              <a:ext cx="2834640" cy="310896"/>
            </a:xfrm>
            <a:prstGeom prst="roundRect">
              <a:avLst>
                <a:gd name="adj" fmla="val 21000"/>
              </a:avLst>
            </a:prstGeom>
            <a:solidFill>
              <a:srgbClr val="2E7D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Y header lower edge" descr="Y header lower edge"/>
            <p:cNvSpPr/>
            <p:nvPr/>
          </p:nvSpPr>
          <p:spPr>
            <a:xfrm>
              <a:off x="8927591" y="1353312"/>
              <a:ext cx="2834640" cy="15544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Y role" descr="Y  OUTCOME"/>
            <p:cNvSpPr txBox="1"/>
            <p:nvPr/>
          </p:nvSpPr>
          <p:spPr>
            <a:xfrm>
              <a:off x="9019031" y="1229868"/>
              <a:ext cx="2651760" cy="237744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FFFFFF"/>
                  </a:solidFill>
                  <a:latin typeface="Arial"/>
                </a:rPr>
                <a:t>Y  OUTCOME</a:t>
              </a:r>
            </a:p>
          </p:txBody>
        </p:sp>
        <p:sp>
          <p:nvSpPr>
            <p:cNvPr id="24" name="Y name" descr="Pain latency"/>
            <p:cNvSpPr txBox="1"/>
            <p:nvPr/>
          </p:nvSpPr>
          <p:spPr>
            <a:xfrm>
              <a:off x="9073895" y="1664208"/>
              <a:ext cx="2542032" cy="29260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7365D"/>
                  </a:solidFill>
                  <a:latin typeface="Arial"/>
                </a:rPr>
                <a:t>Pain latency</a:t>
              </a:r>
            </a:p>
          </p:txBody>
        </p:sp>
        <p:sp>
          <p:nvSpPr>
            <p:cNvPr id="25" name="Y definition" descr="Post-treatment behavioral outcome"/>
            <p:cNvSpPr txBox="1"/>
            <p:nvPr/>
          </p:nvSpPr>
          <p:spPr>
            <a:xfrm>
              <a:off x="9064751" y="2066543"/>
              <a:ext cx="2560320" cy="210312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0" b="0" i="0">
                  <a:solidFill>
                    <a:srgbClr val="203346"/>
                  </a:solidFill>
                  <a:latin typeface="Arial"/>
                </a:rPr>
                <a:t>Post-treatment behavioral outcome</a:t>
              </a:r>
            </a:p>
          </p:txBody>
        </p:sp>
      </p:grpSp>
      <p:cxnSp>
        <p:nvCxnSpPr>
          <p:cNvPr id="27" name="Path a" descr="Path a"/>
          <p:cNvCxnSpPr>
            <a:cxnSpLocks/>
            <a:stCxn id="6" idx="3"/>
            <a:endCxn id="13" idx="1"/>
          </p:cNvCxnSpPr>
          <p:nvPr/>
        </p:nvCxnSpPr>
        <p:spPr>
          <a:xfrm>
            <a:off x="3264408" y="1778508"/>
            <a:ext cx="1414272" cy="0"/>
          </a:xfrm>
          <a:prstGeom prst="line">
            <a:avLst/>
          </a:prstGeom>
          <a:ln w="22860">
            <a:solidFill>
              <a:srgbClr val="2E75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ath a label" descr="a"/>
          <p:cNvSpPr txBox="1"/>
          <p:nvPr/>
        </p:nvSpPr>
        <p:spPr>
          <a:xfrm>
            <a:off x="3777234" y="1517904"/>
            <a:ext cx="36576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7365D"/>
                </a:solidFill>
                <a:latin typeface="Arial"/>
              </a:rPr>
              <a:t>a</a:t>
            </a:r>
          </a:p>
        </p:txBody>
      </p:sp>
      <p:cxnSp>
        <p:nvCxnSpPr>
          <p:cNvPr id="29" name="Path b" descr="Path b"/>
          <p:cNvCxnSpPr>
            <a:cxnSpLocks/>
            <a:stCxn id="13" idx="3"/>
            <a:endCxn id="20" idx="1"/>
          </p:cNvCxnSpPr>
          <p:nvPr/>
        </p:nvCxnSpPr>
        <p:spPr>
          <a:xfrm>
            <a:off x="7513320" y="1778508"/>
            <a:ext cx="1414271" cy="0"/>
          </a:xfrm>
          <a:prstGeom prst="line">
            <a:avLst/>
          </a:prstGeom>
          <a:ln w="22860">
            <a:solidFill>
              <a:srgbClr val="E2620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ath b label" descr="b"/>
          <p:cNvSpPr txBox="1"/>
          <p:nvPr/>
        </p:nvSpPr>
        <p:spPr>
          <a:xfrm>
            <a:off x="8026146" y="1517904"/>
            <a:ext cx="36576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7365D"/>
                </a:solidFill>
                <a:latin typeface="Arial"/>
              </a:rPr>
              <a:t>b</a:t>
            </a:r>
          </a:p>
        </p:txBody>
      </p:sp>
      <p:sp>
        <p:nvSpPr>
          <p:cNvPr id="31" name="Path b LMM estimate" descr="LMM: β = −0.741"/>
          <p:cNvSpPr txBox="1"/>
          <p:nvPr/>
        </p:nvSpPr>
        <p:spPr>
          <a:xfrm>
            <a:off x="7543799" y="1984248"/>
            <a:ext cx="1353312" cy="1920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86A79"/>
                </a:solidFill>
                <a:latin typeface="Arial"/>
              </a:rPr>
              <a:t>LMM: </a:t>
            </a:r>
            <a:r>
              <a:rPr sz="1120" b="1" i="0">
                <a:solidFill>
                  <a:srgbClr val="17365D"/>
                </a:solidFill>
                <a:latin typeface="Arial"/>
              </a:rPr>
              <a:t>β = −0.741</a:t>
            </a:r>
          </a:p>
        </p:txBody>
      </p:sp>
      <p:sp>
        <p:nvSpPr>
          <p:cNvPr id="32" name="Path b LMM p value" descr="p = 0.027"/>
          <p:cNvSpPr txBox="1"/>
          <p:nvPr/>
        </p:nvSpPr>
        <p:spPr>
          <a:xfrm>
            <a:off x="7607807" y="2185416"/>
            <a:ext cx="1225296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586A79"/>
                </a:solidFill>
                <a:latin typeface="Arial"/>
              </a:rPr>
              <a:t>p</a:t>
            </a:r>
            <a:r>
              <a:rPr sz="1140" b="0" i="0">
                <a:solidFill>
                  <a:srgbClr val="586A79"/>
                </a:solidFill>
                <a:latin typeface="Arial"/>
              </a:rPr>
              <a:t> = 0.027</a:t>
            </a:r>
          </a:p>
        </p:txBody>
      </p:sp>
      <p:sp>
        <p:nvSpPr>
          <p:cNvPr id="33" name="Direct effect c prime path" descr="Direct path from mecamylamine dose to pain latency, conditional on the mediator"/>
          <p:cNvSpPr/>
          <p:nvPr/>
        </p:nvSpPr>
        <p:spPr>
          <a:xfrm>
            <a:off x="1846280" y="2358120"/>
            <a:ext cx="8493802" cy="347320"/>
          </a:xfrm>
          <a:custGeom>
            <a:avLst/>
            <a:gdLst/>
            <a:ahLst/>
            <a:cxnLst/>
            <a:rect l="l" t="t" r="r" b="b"/>
            <a:pathLst>
              <a:path w="9293" h="380">
                <a:moveTo>
                  <a:pt x="0" y="0"/>
                </a:moveTo>
                <a:lnTo>
                  <a:pt x="0" y="380"/>
                </a:lnTo>
                <a:lnTo>
                  <a:pt x="9293" y="380"/>
                </a:lnTo>
                <a:lnTo>
                  <a:pt x="9293" y="0"/>
                </a:lnTo>
              </a:path>
            </a:pathLst>
          </a:custGeom>
          <a:noFill/>
          <a:ln w="19050">
            <a:solidFill>
              <a:srgbClr val="677784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Direct-effect text knockout" descr="Direct-effect text knockout"/>
          <p:cNvSpPr/>
          <p:nvPr/>
        </p:nvSpPr>
        <p:spPr>
          <a:xfrm>
            <a:off x="4233672" y="2551176"/>
            <a:ext cx="3721608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irect-effect estimate" descr="Direct effect, c′ = 0.3759"/>
          <p:cNvSpPr txBox="1"/>
          <p:nvPr/>
        </p:nvSpPr>
        <p:spPr>
          <a:xfrm>
            <a:off x="4334256" y="2578608"/>
            <a:ext cx="3520440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dirty="0">
                <a:solidFill>
                  <a:srgbClr val="677784"/>
                </a:solidFill>
                <a:latin typeface="Arial"/>
              </a:rPr>
              <a:t>Direct effect, </a:t>
            </a:r>
            <a:r>
              <a:rPr sz="1330" b="0" i="1" dirty="0">
                <a:solidFill>
                  <a:srgbClr val="677784"/>
                </a:solidFill>
                <a:latin typeface="Arial"/>
              </a:rPr>
              <a:t>c′</a:t>
            </a:r>
            <a:r>
              <a:rPr sz="1330" b="0" i="0" dirty="0">
                <a:solidFill>
                  <a:srgbClr val="677784"/>
                </a:solidFill>
                <a:latin typeface="Arial"/>
              </a:rPr>
              <a:t> = </a:t>
            </a:r>
            <a:r>
              <a:rPr sz="1330" b="1" i="0" dirty="0">
                <a:solidFill>
                  <a:srgbClr val="17365D"/>
                </a:solidFill>
                <a:latin typeface="Arial"/>
              </a:rPr>
              <a:t>0.3759</a:t>
            </a:r>
          </a:p>
        </p:txBody>
      </p:sp>
      <p:sp>
        <p:nvSpPr>
          <p:cNvPr id="36" name="Covariate adjustment background" descr="Covariate adjustment background"/>
          <p:cNvSpPr/>
          <p:nvPr/>
        </p:nvSpPr>
        <p:spPr>
          <a:xfrm>
            <a:off x="429768" y="2953512"/>
            <a:ext cx="11332460" cy="310896"/>
          </a:xfrm>
          <a:prstGeom prst="rect">
            <a:avLst/>
          </a:prstGeom>
          <a:solidFill>
            <a:srgbClr val="F1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ovariate adjustment accent" descr="Covariate adjustment accent"/>
          <p:cNvSpPr/>
          <p:nvPr/>
        </p:nvSpPr>
        <p:spPr>
          <a:xfrm>
            <a:off x="429768" y="2953512"/>
            <a:ext cx="39319" cy="310896"/>
          </a:xfrm>
          <a:prstGeom prst="rect">
            <a:avLst/>
          </a:prstGeom>
          <a:solidFill>
            <a:srgbClr val="7C3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ovariate adjustment text" descr="Adjusted for: baseline latency and study duration (4 vs 12 weeks)"/>
          <p:cNvSpPr txBox="1"/>
          <p:nvPr/>
        </p:nvSpPr>
        <p:spPr>
          <a:xfrm>
            <a:off x="612648" y="2991916"/>
            <a:ext cx="10963656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7C3FB0"/>
                </a:solidFill>
                <a:latin typeface="Arial"/>
              </a:rPr>
              <a:t>Adjusted for: </a:t>
            </a:r>
            <a:r>
              <a:rPr sz="1190" b="0" i="0">
                <a:solidFill>
                  <a:srgbClr val="203346"/>
                </a:solidFill>
                <a:latin typeface="Arial"/>
              </a:rPr>
              <a:t>baseline latency and study duration (4 vs 12 weeks)</a:t>
            </a:r>
          </a:p>
        </p:txBody>
      </p:sp>
      <p:sp>
        <p:nvSpPr>
          <p:cNvPr id="40" name="Panel B letter" descr="B"/>
          <p:cNvSpPr txBox="1"/>
          <p:nvPr/>
        </p:nvSpPr>
        <p:spPr>
          <a:xfrm>
            <a:off x="429768" y="3493008"/>
            <a:ext cx="210312" cy="21945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65D"/>
                </a:solidFill>
                <a:latin typeface="Arial"/>
              </a:rPr>
              <a:t>B</a:t>
            </a:r>
          </a:p>
        </p:txBody>
      </p:sp>
      <p:sp>
        <p:nvSpPr>
          <p:cNvPr id="41" name="Panel B heading" descr="Indirect-effect estimates"/>
          <p:cNvSpPr txBox="1"/>
          <p:nvPr/>
        </p:nvSpPr>
        <p:spPr>
          <a:xfrm>
            <a:off x="704088" y="3493008"/>
            <a:ext cx="7315200" cy="21945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365D"/>
                </a:solidFill>
                <a:latin typeface="Arial"/>
              </a:rPr>
              <a:t>Indirect-effect estimates</a:t>
            </a:r>
          </a:p>
        </p:txBody>
      </p:sp>
      <p:sp>
        <p:nvSpPr>
          <p:cNvPr id="42" name="Bootstrap label" descr="1,000 bootstrap resamples"/>
          <p:cNvSpPr txBox="1"/>
          <p:nvPr/>
        </p:nvSpPr>
        <p:spPr>
          <a:xfrm>
            <a:off x="8860536" y="3502152"/>
            <a:ext cx="2898648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586A79"/>
                </a:solidFill>
                <a:latin typeface="Arial"/>
              </a:rPr>
              <a:t>1,000 bootstrap resamples</a:t>
            </a:r>
          </a:p>
        </p:txBody>
      </p:sp>
      <p:sp>
        <p:nvSpPr>
          <p:cNvPr id="43" name="Analysis header" descr="Analysis"/>
          <p:cNvSpPr txBox="1"/>
          <p:nvPr/>
        </p:nvSpPr>
        <p:spPr>
          <a:xfrm>
            <a:off x="457200" y="3822191"/>
            <a:ext cx="338328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586A79"/>
                </a:solidFill>
                <a:latin typeface="Arial"/>
              </a:rPr>
              <a:t>Analysis</a:t>
            </a:r>
          </a:p>
        </p:txBody>
      </p:sp>
      <p:sp>
        <p:nvSpPr>
          <p:cNvPr id="44" name="Estimate column header" descr="ab [95% CI]"/>
          <p:cNvSpPr txBox="1"/>
          <p:nvPr/>
        </p:nvSpPr>
        <p:spPr>
          <a:xfrm>
            <a:off x="8878824" y="3822191"/>
            <a:ext cx="2852928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>
                <a:solidFill>
                  <a:srgbClr val="586A79"/>
                </a:solidFill>
                <a:latin typeface="Arial"/>
              </a:rPr>
              <a:t>ab</a:t>
            </a:r>
            <a:r>
              <a:rPr sz="1080" b="0" i="0">
                <a:solidFill>
                  <a:srgbClr val="586A79"/>
                </a:solidFill>
                <a:latin typeface="Arial"/>
              </a:rPr>
              <a:t> [95% CI]</a:t>
            </a:r>
          </a:p>
        </p:txBody>
      </p:sp>
      <p:sp>
        <p:nvSpPr>
          <p:cNvPr id="45" name="Full-data row highlight" descr="Full-data row highlight"/>
          <p:cNvSpPr/>
          <p:nvPr/>
        </p:nvSpPr>
        <p:spPr>
          <a:xfrm>
            <a:off x="429768" y="4059936"/>
            <a:ext cx="11332460" cy="475488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Zero reference" descr="Zero reference"/>
          <p:cNvCxnSpPr/>
          <p:nvPr/>
        </p:nvCxnSpPr>
        <p:spPr>
          <a:xfrm>
            <a:off x="4282875" y="4005072"/>
            <a:ext cx="0" cy="1133856"/>
          </a:xfrm>
          <a:prstGeom prst="line">
            <a:avLst/>
          </a:prstGeom>
          <a:ln w="11430">
            <a:solidFill>
              <a:srgbClr val="67778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ull dataset label" descr="Full dataset"/>
          <p:cNvSpPr txBox="1"/>
          <p:nvPr/>
        </p:nvSpPr>
        <p:spPr>
          <a:xfrm>
            <a:off x="457200" y="4101084"/>
            <a:ext cx="3310128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17365D"/>
                </a:solidFill>
                <a:latin typeface="Arial"/>
              </a:rPr>
              <a:t>Full dataset</a:t>
            </a:r>
          </a:p>
        </p:txBody>
      </p:sp>
      <p:sp>
        <p:nvSpPr>
          <p:cNvPr id="48" name="Full dataset sample" descr="Includes imputation; N = 100"/>
          <p:cNvSpPr txBox="1"/>
          <p:nvPr/>
        </p:nvSpPr>
        <p:spPr>
          <a:xfrm>
            <a:off x="457200" y="4328769"/>
            <a:ext cx="3429000" cy="17373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86A79"/>
                </a:solidFill>
                <a:latin typeface="Arial"/>
              </a:rPr>
              <a:t>Includes imputation; N = 100</a:t>
            </a:r>
          </a:p>
        </p:txBody>
      </p:sp>
      <p:cxnSp>
        <p:nvCxnSpPr>
          <p:cNvPr id="49" name="Full dataset CI" descr="Full dataset CI"/>
          <p:cNvCxnSpPr/>
          <p:nvPr/>
        </p:nvCxnSpPr>
        <p:spPr>
          <a:xfrm>
            <a:off x="4898466" y="4288536"/>
            <a:ext cx="1834496" cy="0"/>
          </a:xfrm>
          <a:prstGeom prst="line">
            <a:avLst/>
          </a:prstGeom>
          <a:ln w="24765">
            <a:solidFill>
              <a:srgbClr val="0072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Full dataset lower CI cap" descr="Full dataset lower CI cap"/>
          <p:cNvCxnSpPr/>
          <p:nvPr/>
        </p:nvCxnSpPr>
        <p:spPr>
          <a:xfrm>
            <a:off x="4898466" y="4224528"/>
            <a:ext cx="0" cy="128016"/>
          </a:xfrm>
          <a:prstGeom prst="line">
            <a:avLst/>
          </a:prstGeom>
          <a:ln w="17780">
            <a:solidFill>
              <a:srgbClr val="0072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Full dataset upper CI cap" descr="Full dataset upper CI cap"/>
          <p:cNvCxnSpPr/>
          <p:nvPr/>
        </p:nvCxnSpPr>
        <p:spPr>
          <a:xfrm>
            <a:off x="6732962" y="4224528"/>
            <a:ext cx="0" cy="128016"/>
          </a:xfrm>
          <a:prstGeom prst="line">
            <a:avLst/>
          </a:prstGeom>
          <a:ln w="17780">
            <a:solidFill>
              <a:srgbClr val="0072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ull dataset estimate marker" descr="Indirect effect 0.3460"/>
          <p:cNvSpPr/>
          <p:nvPr/>
        </p:nvSpPr>
        <p:spPr>
          <a:xfrm>
            <a:off x="5630483" y="4219956"/>
            <a:ext cx="137160" cy="13716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Full dataset estimate and interval" descr="0.3460 [0.1504, 0.5986]"/>
          <p:cNvSpPr txBox="1"/>
          <p:nvPr/>
        </p:nvSpPr>
        <p:spPr>
          <a:xfrm>
            <a:off x="8878824" y="4169664"/>
            <a:ext cx="2852928" cy="23774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072B2"/>
                </a:solidFill>
                <a:latin typeface="Arial"/>
              </a:rPr>
              <a:t>0.3460</a:t>
            </a:r>
            <a:r>
              <a:rPr sz="1260" b="0" i="0">
                <a:solidFill>
                  <a:srgbClr val="203346"/>
                </a:solidFill>
                <a:latin typeface="Arial"/>
              </a:rPr>
              <a:t> [0.1504, 0.5986]</a:t>
            </a:r>
          </a:p>
        </p:txBody>
      </p:sp>
      <p:sp>
        <p:nvSpPr>
          <p:cNvPr id="54" name="Non-imputed subset label" descr="Non-imputed subset"/>
          <p:cNvSpPr txBox="1"/>
          <p:nvPr/>
        </p:nvSpPr>
        <p:spPr>
          <a:xfrm>
            <a:off x="457200" y="4594860"/>
            <a:ext cx="3310128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17365D"/>
                </a:solidFill>
                <a:latin typeface="Arial"/>
              </a:rPr>
              <a:t>Non-imputed subset</a:t>
            </a:r>
          </a:p>
        </p:txBody>
      </p:sp>
      <p:sp>
        <p:nvSpPr>
          <p:cNvPr id="55" name="Non-imputed subset sample" descr="Biological sensitivity subset; N = 50"/>
          <p:cNvSpPr txBox="1"/>
          <p:nvPr/>
        </p:nvSpPr>
        <p:spPr>
          <a:xfrm>
            <a:off x="457200" y="4822545"/>
            <a:ext cx="3429000" cy="17373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86A79"/>
                </a:solidFill>
                <a:latin typeface="Arial"/>
              </a:rPr>
              <a:t>Biological sensitivity subset; N = 50</a:t>
            </a:r>
          </a:p>
        </p:txBody>
      </p:sp>
      <p:cxnSp>
        <p:nvCxnSpPr>
          <p:cNvPr id="56" name="Non-imputed subset CI" descr="Non-imputed subset CI"/>
          <p:cNvCxnSpPr/>
          <p:nvPr/>
        </p:nvCxnSpPr>
        <p:spPr>
          <a:xfrm>
            <a:off x="4925480" y="4782312"/>
            <a:ext cx="2894590" cy="0"/>
          </a:xfrm>
          <a:prstGeom prst="line">
            <a:avLst/>
          </a:prstGeom>
          <a:ln w="24765">
            <a:solidFill>
              <a:srgbClr val="E69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Non-imputed subset lower CI cap" descr="Non-imputed subset lower CI cap"/>
          <p:cNvCxnSpPr/>
          <p:nvPr/>
        </p:nvCxnSpPr>
        <p:spPr>
          <a:xfrm>
            <a:off x="4925480" y="4718304"/>
            <a:ext cx="0" cy="128016"/>
          </a:xfrm>
          <a:prstGeom prst="line">
            <a:avLst/>
          </a:prstGeom>
          <a:ln w="17780">
            <a:solidFill>
              <a:srgbClr val="E69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Non-imputed subset upper CI cap" descr="Non-imputed subset upper CI cap"/>
          <p:cNvCxnSpPr/>
          <p:nvPr/>
        </p:nvCxnSpPr>
        <p:spPr>
          <a:xfrm>
            <a:off x="7820070" y="4718304"/>
            <a:ext cx="0" cy="128016"/>
          </a:xfrm>
          <a:prstGeom prst="line">
            <a:avLst/>
          </a:prstGeom>
          <a:ln w="17780">
            <a:solidFill>
              <a:srgbClr val="E69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Non-imputed subset estimate marker" descr="Indirect effect 0.4737"/>
          <p:cNvSpPr/>
          <p:nvPr/>
        </p:nvSpPr>
        <p:spPr>
          <a:xfrm>
            <a:off x="6144019" y="4704588"/>
            <a:ext cx="155448" cy="155448"/>
          </a:xfrm>
          <a:prstGeom prst="diamond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on-imputed subset estimate and interval" descr="0.4737 [0.1570, 0.8642]"/>
          <p:cNvSpPr txBox="1"/>
          <p:nvPr/>
        </p:nvSpPr>
        <p:spPr>
          <a:xfrm>
            <a:off x="8878824" y="4663440"/>
            <a:ext cx="2852928" cy="23774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946300"/>
                </a:solidFill>
                <a:latin typeface="Arial"/>
              </a:rPr>
              <a:t>0.4737</a:t>
            </a:r>
            <a:r>
              <a:rPr sz="1260" b="0" i="0">
                <a:solidFill>
                  <a:srgbClr val="203346"/>
                </a:solidFill>
                <a:latin typeface="Arial"/>
              </a:rPr>
              <a:t> [0.1570, 0.8642]</a:t>
            </a:r>
          </a:p>
        </p:txBody>
      </p:sp>
      <p:cxnSp>
        <p:nvCxnSpPr>
          <p:cNvPr id="61" name="Effect axis" descr="Effect axis"/>
          <p:cNvCxnSpPr/>
          <p:nvPr/>
        </p:nvCxnSpPr>
        <p:spPr>
          <a:xfrm>
            <a:off x="4078224" y="5138928"/>
            <a:ext cx="4297680" cy="0"/>
          </a:xfrm>
          <a:prstGeom prst="line">
            <a:avLst/>
          </a:prstGeom>
          <a:ln w="10160">
            <a:solidFill>
              <a:srgbClr val="6777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Tick 0" descr="Tick 0"/>
          <p:cNvCxnSpPr/>
          <p:nvPr/>
        </p:nvCxnSpPr>
        <p:spPr>
          <a:xfrm>
            <a:off x="4282875" y="5138928"/>
            <a:ext cx="0" cy="73152"/>
          </a:xfrm>
          <a:prstGeom prst="line">
            <a:avLst/>
          </a:prstGeom>
          <a:ln w="10160">
            <a:solidFill>
              <a:srgbClr val="6777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ick label 0" descr="0.00"/>
          <p:cNvSpPr txBox="1"/>
          <p:nvPr/>
        </p:nvSpPr>
        <p:spPr>
          <a:xfrm>
            <a:off x="4063419" y="5239512"/>
            <a:ext cx="438912" cy="1645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86A79"/>
                </a:solidFill>
                <a:latin typeface="Arial"/>
              </a:rPr>
              <a:t>0.00</a:t>
            </a:r>
          </a:p>
        </p:txBody>
      </p:sp>
      <p:cxnSp>
        <p:nvCxnSpPr>
          <p:cNvPr id="64" name="Tick 0.25" descr="Tick 0.25"/>
          <p:cNvCxnSpPr/>
          <p:nvPr/>
        </p:nvCxnSpPr>
        <p:spPr>
          <a:xfrm>
            <a:off x="5306132" y="5138928"/>
            <a:ext cx="0" cy="73152"/>
          </a:xfrm>
          <a:prstGeom prst="line">
            <a:avLst/>
          </a:prstGeom>
          <a:ln w="10160">
            <a:solidFill>
              <a:srgbClr val="6777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ick label 0.25" descr="0.25"/>
          <p:cNvSpPr txBox="1"/>
          <p:nvPr/>
        </p:nvSpPr>
        <p:spPr>
          <a:xfrm>
            <a:off x="5086676" y="5239512"/>
            <a:ext cx="438912" cy="1645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86A79"/>
                </a:solidFill>
                <a:latin typeface="Arial"/>
              </a:rPr>
              <a:t>0.25</a:t>
            </a:r>
          </a:p>
        </p:txBody>
      </p:sp>
      <p:cxnSp>
        <p:nvCxnSpPr>
          <p:cNvPr id="66" name="Tick 0.5" descr="Tick 0.5"/>
          <p:cNvCxnSpPr/>
          <p:nvPr/>
        </p:nvCxnSpPr>
        <p:spPr>
          <a:xfrm>
            <a:off x="6329389" y="5138928"/>
            <a:ext cx="0" cy="73152"/>
          </a:xfrm>
          <a:prstGeom prst="line">
            <a:avLst/>
          </a:prstGeom>
          <a:ln w="10160">
            <a:solidFill>
              <a:srgbClr val="6777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ick label 0.5" descr="0.50"/>
          <p:cNvSpPr txBox="1"/>
          <p:nvPr/>
        </p:nvSpPr>
        <p:spPr>
          <a:xfrm>
            <a:off x="6109933" y="5239512"/>
            <a:ext cx="438912" cy="1645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86A79"/>
                </a:solidFill>
                <a:latin typeface="Arial"/>
              </a:rPr>
              <a:t>0.50</a:t>
            </a:r>
          </a:p>
        </p:txBody>
      </p:sp>
      <p:cxnSp>
        <p:nvCxnSpPr>
          <p:cNvPr id="68" name="Tick 0.75" descr="Tick 0.75"/>
          <p:cNvCxnSpPr/>
          <p:nvPr/>
        </p:nvCxnSpPr>
        <p:spPr>
          <a:xfrm>
            <a:off x="7352646" y="5138928"/>
            <a:ext cx="0" cy="73152"/>
          </a:xfrm>
          <a:prstGeom prst="line">
            <a:avLst/>
          </a:prstGeom>
          <a:ln w="10160">
            <a:solidFill>
              <a:srgbClr val="6777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ick label 0.75" descr="0.75"/>
          <p:cNvSpPr txBox="1"/>
          <p:nvPr/>
        </p:nvSpPr>
        <p:spPr>
          <a:xfrm>
            <a:off x="7133190" y="5239512"/>
            <a:ext cx="438912" cy="1645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86A79"/>
                </a:solidFill>
                <a:latin typeface="Arial"/>
              </a:rPr>
              <a:t>0.75</a:t>
            </a:r>
          </a:p>
        </p:txBody>
      </p:sp>
      <p:cxnSp>
        <p:nvCxnSpPr>
          <p:cNvPr id="70" name="Tick 1" descr="Tick 1"/>
          <p:cNvCxnSpPr/>
          <p:nvPr/>
        </p:nvCxnSpPr>
        <p:spPr>
          <a:xfrm>
            <a:off x="8375904" y="5138928"/>
            <a:ext cx="0" cy="73152"/>
          </a:xfrm>
          <a:prstGeom prst="line">
            <a:avLst/>
          </a:prstGeom>
          <a:ln w="10160">
            <a:solidFill>
              <a:srgbClr val="6777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ick label 1" descr="1.00"/>
          <p:cNvSpPr txBox="1"/>
          <p:nvPr/>
        </p:nvSpPr>
        <p:spPr>
          <a:xfrm>
            <a:off x="8156448" y="5239512"/>
            <a:ext cx="438912" cy="1645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86A79"/>
                </a:solidFill>
                <a:latin typeface="Arial"/>
              </a:rPr>
              <a:t>1.00</a:t>
            </a:r>
          </a:p>
        </p:txBody>
      </p:sp>
      <p:sp>
        <p:nvSpPr>
          <p:cNvPr id="72" name="Effect axis title" descr="Indirect effect, ab (reported scale)"/>
          <p:cNvSpPr txBox="1"/>
          <p:nvPr/>
        </p:nvSpPr>
        <p:spPr>
          <a:xfrm>
            <a:off x="4069080" y="5458968"/>
            <a:ext cx="4306824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586A79"/>
                </a:solidFill>
                <a:latin typeface="Arial"/>
              </a:rPr>
              <a:t>Indirect effect, </a:t>
            </a:r>
            <a:r>
              <a:rPr sz="1110" b="0" i="1">
                <a:solidFill>
                  <a:srgbClr val="586A79"/>
                </a:solidFill>
                <a:latin typeface="Arial"/>
              </a:rPr>
              <a:t>ab</a:t>
            </a:r>
            <a:r>
              <a:rPr sz="1110" b="0" i="0">
                <a:solidFill>
                  <a:srgbClr val="586A79"/>
                </a:solidFill>
                <a:latin typeface="Arial"/>
              </a:rPr>
              <a:t> (reported scale)</a:t>
            </a:r>
          </a:p>
        </p:txBody>
      </p:sp>
      <p:cxnSp>
        <p:nvCxnSpPr>
          <p:cNvPr id="73" name="Caption separator" descr="Caption separator"/>
          <p:cNvCxnSpPr/>
          <p:nvPr/>
        </p:nvCxnSpPr>
        <p:spPr>
          <a:xfrm>
            <a:off x="429768" y="5742432"/>
            <a:ext cx="11332433" cy="0"/>
          </a:xfrm>
          <a:prstGeom prst="line">
            <a:avLst/>
          </a:prstGeom>
          <a:ln w="9525">
            <a:solidFill>
              <a:srgbClr val="CBD5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oncise caption title" descr="Figure 2. Proposed BDNF_SUP-mediated association between mecamylamine dose and pain latency."/>
          <p:cNvSpPr txBox="1"/>
          <p:nvPr/>
        </p:nvSpPr>
        <p:spPr>
          <a:xfrm>
            <a:off x="429768" y="5833872"/>
            <a:ext cx="11332433" cy="21031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365D"/>
                </a:solidFill>
                <a:latin typeface="Arial"/>
              </a:rPr>
              <a:t>Figure 2. Proposed BDNF_SUP-mediated association between mecamylamine dose and pain latency.</a:t>
            </a:r>
          </a:p>
        </p:txBody>
      </p:sp>
      <p:sp>
        <p:nvSpPr>
          <p:cNvPr id="75" name="Concise caption body" descr="(A) Baseline- and duration-adjusted mediation model in a rodent model of nicotine withdrawal–associated hyperalgesia. The path-b LMM estimate is reported separately from the bootstrap indirect effects. (B) Points and bars show indirect effects and 95% bootstrap CIs; the dashed line marks zero. The non-imputed biological subset provides a sensitivity analysis. Arrows represent a proposed mechanism, not definitive causal proof."/>
          <p:cNvSpPr txBox="1"/>
          <p:nvPr/>
        </p:nvSpPr>
        <p:spPr>
          <a:xfrm>
            <a:off x="429768" y="6144768"/>
            <a:ext cx="11332433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03346"/>
                </a:solidFill>
                <a:latin typeface="Arial"/>
              </a:rPr>
              <a:t>(A) Baseline- and duration-adjusted mediation model in a rodent model of nicotine withdrawal–associated hyperalgesia. The path-b LMM estimate is reported separately from the bootstrap indirect effects. (B) Points and bars show indirect effects and 95% bootstrap CIs; the dashed line marks zero. The non-imputed biological subset provides a sensitivity analysis. Arrows represent a proposed mechanism, not definitive causal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1570</Words>
  <Application>Microsoft Office PowerPoint</Application>
  <PresentationFormat>Widescreen</PresentationFormat>
  <Paragraphs>194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Graphical Abstract - Three-Stage Pipeline (16:9)</dc:title>
  <dc:subject/>
  <dc:creator/>
  <cp:keywords/>
  <dc:description>generated using python-pptx</dc:description>
  <cp:lastModifiedBy>achint chaudhary</cp:lastModifiedBy>
  <cp:revision>1</cp:revision>
  <dcterms:created xsi:type="dcterms:W3CDTF">2013-01-27T09:14:16Z</dcterms:created>
  <dcterms:modified xsi:type="dcterms:W3CDTF">2026-09-27T06:49:22Z</dcterms:modified>
  <cp:category/>
</cp:coreProperties>
</file>